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59"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Calibri" panose="020F0502020204030204" pitchFamily="34" charset="0"/>
      <p:regular r:id="rId21"/>
      <p:bold r:id="rId22"/>
      <p:italic r:id="rId23"/>
      <p:boldItalic r:id="rId24"/>
    </p:embeddedFont>
    <p:embeddedFont>
      <p:font typeface="Montserrat Bold" panose="00000800000000000000" charset="-93"/>
      <p:regular r:id="rId25"/>
    </p:embeddedFont>
    <p:embeddedFont>
      <p:font typeface="Montserrat Ultra-Bold" panose="020B0604020202020204" charset="-93"/>
      <p:regular r:id="rId26"/>
    </p:embeddedFont>
    <p:embeddedFont>
      <p:font typeface="Open Sauce" panose="020B0604020202020204" charset="0"/>
      <p:regular r:id="rId27"/>
    </p:embeddedFont>
    <p:embeddedFont>
      <p:font typeface="Open Sauce Bold" panose="020B0604020202020204" charset="0"/>
      <p:regular r:id="rId28"/>
    </p:embeddedFont>
    <p:embeddedFont>
      <p:font typeface="Open Sauce Heavy"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7" d="100"/>
          <a:sy n="57" d="100"/>
        </p:scale>
        <p:origin x="850" y="4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ựt nguyễn" userId="17209e7e20d38e44" providerId="LiveId" clId="{C9FFB405-B1D6-4632-B589-A2EC33EDEAD1}"/>
    <pc:docChg chg="custSel modSld sldOrd">
      <pc:chgData name="nhựt nguyễn" userId="17209e7e20d38e44" providerId="LiveId" clId="{C9FFB405-B1D6-4632-B589-A2EC33EDEAD1}" dt="2026-04-28T16:17:53.085" v="2"/>
      <pc:docMkLst>
        <pc:docMk/>
      </pc:docMkLst>
      <pc:sldChg chg="delSp mod">
        <pc:chgData name="nhựt nguyễn" userId="17209e7e20d38e44" providerId="LiveId" clId="{C9FFB405-B1D6-4632-B589-A2EC33EDEAD1}" dt="2026-04-28T15:20:06.400" v="0" actId="478"/>
        <pc:sldMkLst>
          <pc:docMk/>
          <pc:sldMk cId="0" sldId="256"/>
        </pc:sldMkLst>
        <pc:spChg chg="del">
          <ac:chgData name="nhựt nguyễn" userId="17209e7e20d38e44" providerId="LiveId" clId="{C9FFB405-B1D6-4632-B589-A2EC33EDEAD1}" dt="2026-04-28T15:20:06.400" v="0" actId="478"/>
          <ac:spMkLst>
            <pc:docMk/>
            <pc:sldMk cId="0" sldId="256"/>
            <ac:spMk id="8" creationId="{00000000-0000-0000-0000-000000000000}"/>
          </ac:spMkLst>
        </pc:spChg>
        <pc:spChg chg="del">
          <ac:chgData name="nhựt nguyễn" userId="17209e7e20d38e44" providerId="LiveId" clId="{C9FFB405-B1D6-4632-B589-A2EC33EDEAD1}" dt="2026-04-28T15:20:06.400" v="0" actId="478"/>
          <ac:spMkLst>
            <pc:docMk/>
            <pc:sldMk cId="0" sldId="256"/>
            <ac:spMk id="9" creationId="{00000000-0000-0000-0000-000000000000}"/>
          </ac:spMkLst>
        </pc:spChg>
        <pc:spChg chg="del">
          <ac:chgData name="nhựt nguyễn" userId="17209e7e20d38e44" providerId="LiveId" clId="{C9FFB405-B1D6-4632-B589-A2EC33EDEAD1}" dt="2026-04-28T15:20:06.400" v="0" actId="478"/>
          <ac:spMkLst>
            <pc:docMk/>
            <pc:sldMk cId="0" sldId="256"/>
            <ac:spMk id="10" creationId="{00000000-0000-0000-0000-000000000000}"/>
          </ac:spMkLst>
        </pc:spChg>
        <pc:spChg chg="del">
          <ac:chgData name="nhựt nguyễn" userId="17209e7e20d38e44" providerId="LiveId" clId="{C9FFB405-B1D6-4632-B589-A2EC33EDEAD1}" dt="2026-04-28T15:20:06.400" v="0" actId="478"/>
          <ac:spMkLst>
            <pc:docMk/>
            <pc:sldMk cId="0" sldId="256"/>
            <ac:spMk id="11" creationId="{00000000-0000-0000-0000-000000000000}"/>
          </ac:spMkLst>
        </pc:spChg>
        <pc:grpChg chg="del">
          <ac:chgData name="nhựt nguyễn" userId="17209e7e20d38e44" providerId="LiveId" clId="{C9FFB405-B1D6-4632-B589-A2EC33EDEAD1}" dt="2026-04-28T15:20:06.400" v="0" actId="478"/>
          <ac:grpSpMkLst>
            <pc:docMk/>
            <pc:sldMk cId="0" sldId="256"/>
            <ac:grpSpMk id="2" creationId="{00000000-0000-0000-0000-000000000000}"/>
          </ac:grpSpMkLst>
        </pc:grpChg>
      </pc:sldChg>
      <pc:sldChg chg="ord">
        <pc:chgData name="nhựt nguyễn" userId="17209e7e20d38e44" providerId="LiveId" clId="{C9FFB405-B1D6-4632-B589-A2EC33EDEAD1}" dt="2026-04-28T16:17:53.085" v="2"/>
        <pc:sldMkLst>
          <pc:docMk/>
          <pc:sldMk cId="0" sldId="25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4.sv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4.sv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sv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4.svg"/><Relationship Id="rId10" Type="http://schemas.openxmlformats.org/officeDocument/2006/relationships/image" Target="../media/image20.png"/><Relationship Id="rId4" Type="http://schemas.openxmlformats.org/officeDocument/2006/relationships/image" Target="../media/image3.png"/><Relationship Id="rId9" Type="http://schemas.openxmlformats.org/officeDocument/2006/relationships/image" Target="../media/image19.sv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5" name="Freeform 5"/>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2"/>
            <a:stretch>
              <a:fillRect/>
            </a:stretch>
          </a:blipFill>
        </p:spPr>
      </p:sp>
      <p:sp>
        <p:nvSpPr>
          <p:cNvPr id="6" name="Freeform 6"/>
          <p:cNvSpPr/>
          <p:nvPr/>
        </p:nvSpPr>
        <p:spPr>
          <a:xfrm>
            <a:off x="-8040681" y="-1805781"/>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3"/>
            <a:stretch>
              <a:fillRect/>
            </a:stretch>
          </a:blipFill>
        </p:spPr>
      </p:sp>
      <p:sp>
        <p:nvSpPr>
          <p:cNvPr id="7" name="Freeform 7"/>
          <p:cNvSpPr/>
          <p:nvPr/>
        </p:nvSpPr>
        <p:spPr>
          <a:xfrm>
            <a:off x="695603" y="420807"/>
            <a:ext cx="557607" cy="557607"/>
          </a:xfrm>
          <a:custGeom>
            <a:avLst/>
            <a:gdLst/>
            <a:ahLst/>
            <a:cxnLst/>
            <a:rect l="l" t="t" r="r" b="b"/>
            <a:pathLst>
              <a:path w="557607" h="557607">
                <a:moveTo>
                  <a:pt x="0" y="0"/>
                </a:moveTo>
                <a:lnTo>
                  <a:pt x="557607" y="0"/>
                </a:lnTo>
                <a:lnTo>
                  <a:pt x="557607" y="557607"/>
                </a:lnTo>
                <a:lnTo>
                  <a:pt x="0" y="557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12"/>
          <p:cNvSpPr txBox="1"/>
          <p:nvPr/>
        </p:nvSpPr>
        <p:spPr>
          <a:xfrm>
            <a:off x="1735466" y="397467"/>
            <a:ext cx="4609634" cy="489742"/>
          </a:xfrm>
          <a:prstGeom prst="rect">
            <a:avLst/>
          </a:prstGeom>
        </p:spPr>
        <p:txBody>
          <a:bodyPr lIns="0" tIns="0" rIns="0" bIns="0" rtlCol="0" anchor="t">
            <a:spAutoFit/>
          </a:bodyPr>
          <a:lstStyle/>
          <a:p>
            <a:pPr marL="0" lvl="0" indent="0" algn="l">
              <a:lnSpc>
                <a:spcPts val="3981"/>
              </a:lnSpc>
              <a:spcBef>
                <a:spcPct val="0"/>
              </a:spcBef>
            </a:pPr>
            <a:r>
              <a:rPr lang="en-US" sz="2843" spc="5">
                <a:solidFill>
                  <a:srgbClr val="FFFFFF"/>
                </a:solidFill>
                <a:latin typeface="Open Sauce"/>
                <a:ea typeface="Open Sauce"/>
                <a:cs typeface="Open Sauce"/>
                <a:sym typeface="Open Sauce"/>
              </a:rPr>
              <a:t>Group 9</a:t>
            </a:r>
          </a:p>
        </p:txBody>
      </p:sp>
      <p:sp>
        <p:nvSpPr>
          <p:cNvPr id="13" name="TextBox 13"/>
          <p:cNvSpPr txBox="1"/>
          <p:nvPr/>
        </p:nvSpPr>
        <p:spPr>
          <a:xfrm>
            <a:off x="974406" y="730764"/>
            <a:ext cx="16606783" cy="8921529"/>
          </a:xfrm>
          <a:prstGeom prst="rect">
            <a:avLst/>
          </a:prstGeom>
        </p:spPr>
        <p:txBody>
          <a:bodyPr lIns="0" tIns="0" rIns="0" bIns="0" rtlCol="0" anchor="t">
            <a:spAutoFit/>
          </a:bodyPr>
          <a:lstStyle/>
          <a:p>
            <a:pPr marL="0" lvl="0" indent="0" algn="ctr">
              <a:lnSpc>
                <a:spcPts val="17708"/>
              </a:lnSpc>
              <a:spcBef>
                <a:spcPct val="0"/>
              </a:spcBef>
            </a:pPr>
            <a:r>
              <a:rPr lang="en-US" sz="12649" b="1" spc="290">
                <a:solidFill>
                  <a:srgbClr val="FFFFFF"/>
                </a:solidFill>
                <a:latin typeface="Montserrat Ultra-Bold"/>
                <a:ea typeface="Montserrat Ultra-Bold"/>
                <a:cs typeface="Montserrat Ultra-Bold"/>
                <a:sym typeface="Montserrat Ultra-Bold"/>
              </a:rPr>
              <a:t>MEMORY MANAGEMENT VISUALIZATION APP</a:t>
            </a:r>
          </a:p>
        </p:txBody>
      </p:sp>
      <p:sp>
        <p:nvSpPr>
          <p:cNvPr id="14" name="AutoShape 14"/>
          <p:cNvSpPr/>
          <p:nvPr/>
        </p:nvSpPr>
        <p:spPr>
          <a:xfrm>
            <a:off x="-1662139" y="2153651"/>
            <a:ext cx="6492240" cy="0"/>
          </a:xfrm>
          <a:prstGeom prst="line">
            <a:avLst/>
          </a:prstGeom>
          <a:ln w="19050" cap="flat">
            <a:solidFill>
              <a:srgbClr val="FFFFFF"/>
            </a:solidFill>
            <a:prstDash val="solid"/>
            <a:headEnd type="none" w="sm" len="sm"/>
            <a:tailEnd type="none" w="sm" len="sm"/>
          </a:ln>
        </p:spPr>
      </p:sp>
      <p:sp>
        <p:nvSpPr>
          <p:cNvPr id="15" name="AutoShape 15"/>
          <p:cNvSpPr/>
          <p:nvPr/>
        </p:nvSpPr>
        <p:spPr>
          <a:xfrm>
            <a:off x="14954061" y="8017217"/>
            <a:ext cx="6492240" cy="0"/>
          </a:xfrm>
          <a:prstGeom prst="line">
            <a:avLst/>
          </a:prstGeom>
          <a:ln w="19050" cap="flat">
            <a:solidFill>
              <a:srgbClr val="FFFFFF"/>
            </a:solidFill>
            <a:prstDash val="solid"/>
            <a:headEnd type="none" w="sm" len="sm"/>
            <a:tailEnd type="none" w="sm" len="sm"/>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2"/>
            <a:stretch>
              <a:fillRect/>
            </a:stretch>
          </a:blipFill>
        </p:spPr>
      </p:sp>
      <p:sp>
        <p:nvSpPr>
          <p:cNvPr id="3" name="Freeform 3"/>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3"/>
            <a:stretch>
              <a:fillRect/>
            </a:stretch>
          </a:blipFill>
        </p:spPr>
      </p:sp>
      <p:sp>
        <p:nvSpPr>
          <p:cNvPr id="4" name="Freeform 4"/>
          <p:cNvSpPr/>
          <p:nvPr/>
        </p:nvSpPr>
        <p:spPr>
          <a:xfrm>
            <a:off x="695603" y="420807"/>
            <a:ext cx="557607" cy="557607"/>
          </a:xfrm>
          <a:custGeom>
            <a:avLst/>
            <a:gdLst/>
            <a:ahLst/>
            <a:cxnLst/>
            <a:rect l="l" t="t" r="r" b="b"/>
            <a:pathLst>
              <a:path w="557607" h="557607">
                <a:moveTo>
                  <a:pt x="0" y="0"/>
                </a:moveTo>
                <a:lnTo>
                  <a:pt x="557607" y="0"/>
                </a:lnTo>
                <a:lnTo>
                  <a:pt x="557607" y="557607"/>
                </a:lnTo>
                <a:lnTo>
                  <a:pt x="0" y="557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AutoShape 5"/>
          <p:cNvSpPr/>
          <p:nvPr/>
        </p:nvSpPr>
        <p:spPr>
          <a:xfrm flipV="1">
            <a:off x="9144000" y="1028700"/>
            <a:ext cx="0" cy="8229600"/>
          </a:xfrm>
          <a:prstGeom prst="line">
            <a:avLst/>
          </a:prstGeom>
          <a:ln w="38100" cap="flat">
            <a:solidFill>
              <a:srgbClr val="FFFFFF"/>
            </a:solidFill>
            <a:prstDash val="solid"/>
            <a:headEnd type="none" w="sm" len="sm"/>
            <a:tailEnd type="none" w="sm" len="sm"/>
          </a:ln>
        </p:spPr>
      </p:sp>
      <p:sp>
        <p:nvSpPr>
          <p:cNvPr id="6" name="Freeform 6"/>
          <p:cNvSpPr/>
          <p:nvPr/>
        </p:nvSpPr>
        <p:spPr>
          <a:xfrm>
            <a:off x="9787215" y="7680184"/>
            <a:ext cx="7992210" cy="1099011"/>
          </a:xfrm>
          <a:custGeom>
            <a:avLst/>
            <a:gdLst/>
            <a:ahLst/>
            <a:cxnLst/>
            <a:rect l="l" t="t" r="r" b="b"/>
            <a:pathLst>
              <a:path w="7992210" h="1099011">
                <a:moveTo>
                  <a:pt x="0" y="0"/>
                </a:moveTo>
                <a:lnTo>
                  <a:pt x="7992210" y="0"/>
                </a:lnTo>
                <a:lnTo>
                  <a:pt x="7992210" y="1099011"/>
                </a:lnTo>
                <a:lnTo>
                  <a:pt x="0" y="1099011"/>
                </a:lnTo>
                <a:lnTo>
                  <a:pt x="0" y="0"/>
                </a:lnTo>
                <a:close/>
              </a:path>
            </a:pathLst>
          </a:custGeom>
          <a:blipFill>
            <a:blip r:embed="rId6"/>
            <a:stretch>
              <a:fillRect t="-1359" b="-1359"/>
            </a:stretch>
          </a:blipFill>
        </p:spPr>
      </p:sp>
      <p:sp>
        <p:nvSpPr>
          <p:cNvPr id="7" name="TextBox 7"/>
          <p:cNvSpPr txBox="1"/>
          <p:nvPr/>
        </p:nvSpPr>
        <p:spPr>
          <a:xfrm>
            <a:off x="1028700" y="1707199"/>
            <a:ext cx="6951959" cy="6202680"/>
          </a:xfrm>
          <a:prstGeom prst="rect">
            <a:avLst/>
          </a:prstGeom>
        </p:spPr>
        <p:txBody>
          <a:bodyPr lIns="0" tIns="0" rIns="0" bIns="0" rtlCol="0" anchor="t">
            <a:spAutoFit/>
          </a:bodyPr>
          <a:lstStyle/>
          <a:p>
            <a:pPr marL="0" lvl="0" indent="0" algn="l">
              <a:lnSpc>
                <a:spcPts val="4759"/>
              </a:lnSpc>
            </a:pPr>
            <a:r>
              <a:rPr lang="en-US" sz="3399" b="1" spc="112">
                <a:solidFill>
                  <a:srgbClr val="FFFFFF"/>
                </a:solidFill>
                <a:latin typeface="Open Sauce Bold"/>
                <a:ea typeface="Open Sauce Bold"/>
                <a:cs typeface="Open Sauce Bold"/>
                <a:sym typeface="Open Sauce Bold"/>
              </a:rPr>
              <a:t>Cơ chế của bộ nhớ:</a:t>
            </a:r>
          </a:p>
          <a:p>
            <a:pPr algn="l">
              <a:lnSpc>
                <a:spcPts val="4479"/>
              </a:lnSpc>
            </a:pPr>
            <a:r>
              <a:rPr lang="en-US" sz="3199" spc="105">
                <a:solidFill>
                  <a:srgbClr val="FFFFFF"/>
                </a:solidFill>
                <a:latin typeface="Open Sauce"/>
                <a:ea typeface="Open Sauce"/>
                <a:cs typeface="Open Sauce"/>
                <a:sym typeface="Open Sauce"/>
              </a:rPr>
              <a:t>Hệ điều hành cấp phát nguồn lực hạn chế cho các tiến trình đồng thời. Đối với sinh viên khoa học máy tính, các khái niệm như cấp phát liên tục và phân mảnh nội bộ thường chỉ dừng lại ở mức lý thuyết, khiến việc nắm bắt cách các thuật toán tác động thực tế đến hiệu suất hệ thống trở nên khó khăn.</a:t>
            </a:r>
          </a:p>
        </p:txBody>
      </p:sp>
      <p:sp>
        <p:nvSpPr>
          <p:cNvPr id="8" name="TextBox 8"/>
          <p:cNvSpPr txBox="1"/>
          <p:nvPr/>
        </p:nvSpPr>
        <p:spPr>
          <a:xfrm>
            <a:off x="1735466" y="397467"/>
            <a:ext cx="4609634" cy="489742"/>
          </a:xfrm>
          <a:prstGeom prst="rect">
            <a:avLst/>
          </a:prstGeom>
        </p:spPr>
        <p:txBody>
          <a:bodyPr lIns="0" tIns="0" rIns="0" bIns="0" rtlCol="0" anchor="t">
            <a:spAutoFit/>
          </a:bodyPr>
          <a:lstStyle/>
          <a:p>
            <a:pPr marL="0" lvl="0" indent="0" algn="l">
              <a:lnSpc>
                <a:spcPts val="3981"/>
              </a:lnSpc>
              <a:spcBef>
                <a:spcPct val="0"/>
              </a:spcBef>
            </a:pPr>
            <a:r>
              <a:rPr lang="en-US" sz="2843" spc="5">
                <a:solidFill>
                  <a:srgbClr val="FFFFFF"/>
                </a:solidFill>
                <a:latin typeface="Open Sauce"/>
                <a:ea typeface="Open Sauce"/>
                <a:cs typeface="Open Sauce"/>
                <a:sym typeface="Open Sauce"/>
              </a:rPr>
              <a:t>Group 9</a:t>
            </a:r>
          </a:p>
        </p:txBody>
      </p:sp>
      <p:sp>
        <p:nvSpPr>
          <p:cNvPr id="9" name="TextBox 9"/>
          <p:cNvSpPr txBox="1"/>
          <p:nvPr/>
        </p:nvSpPr>
        <p:spPr>
          <a:xfrm>
            <a:off x="10307341" y="1707199"/>
            <a:ext cx="6951959" cy="5640705"/>
          </a:xfrm>
          <a:prstGeom prst="rect">
            <a:avLst/>
          </a:prstGeom>
        </p:spPr>
        <p:txBody>
          <a:bodyPr lIns="0" tIns="0" rIns="0" bIns="0" rtlCol="0" anchor="t">
            <a:spAutoFit/>
          </a:bodyPr>
          <a:lstStyle/>
          <a:p>
            <a:pPr marL="0" lvl="0" indent="0" algn="l">
              <a:lnSpc>
                <a:spcPts val="4759"/>
              </a:lnSpc>
            </a:pPr>
            <a:r>
              <a:rPr lang="en-US" sz="3399" b="1" spc="112">
                <a:solidFill>
                  <a:srgbClr val="FFFFFF"/>
                </a:solidFill>
                <a:latin typeface="Open Sauce Bold"/>
                <a:ea typeface="Open Sauce Bold"/>
                <a:cs typeface="Open Sauce Bold"/>
                <a:sym typeface="Open Sauce Bold"/>
              </a:rPr>
              <a:t>Phòng thí nghiệm trực quan:</a:t>
            </a:r>
          </a:p>
          <a:p>
            <a:pPr algn="l">
              <a:lnSpc>
                <a:spcPts val="4479"/>
              </a:lnSpc>
            </a:pPr>
            <a:r>
              <a:rPr lang="en-US" sz="3199" spc="105">
                <a:solidFill>
                  <a:srgbClr val="FFFFFF"/>
                </a:solidFill>
                <a:latin typeface="Open Sauce"/>
                <a:ea typeface="Open Sauce"/>
                <a:cs typeface="Open Sauce"/>
                <a:sym typeface="Open Sauce"/>
              </a:rPr>
              <a:t>Ứng dụng máy tính hoàn chỉnh được xây dựng bằng Python. Nó chuyển đổi các thuật toán cấp phát toán học trừu tượng (First-Fit, Best-Fit, Worst-Fit) thành các hoạt ảnh đồ họa thời gian thực, theo dõi chính xác phân mảnh nội bộ và xuất dữ liệu đo lường qua file CSV.</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2"/>
            <a:stretch>
              <a:fillRect/>
            </a:stretch>
          </a:blipFill>
        </p:spPr>
      </p:sp>
      <p:sp>
        <p:nvSpPr>
          <p:cNvPr id="3" name="Freeform 3"/>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3"/>
            <a:stretch>
              <a:fillRect/>
            </a:stretch>
          </a:blipFill>
        </p:spPr>
      </p:sp>
      <p:sp>
        <p:nvSpPr>
          <p:cNvPr id="4" name="Freeform 4"/>
          <p:cNvSpPr/>
          <p:nvPr/>
        </p:nvSpPr>
        <p:spPr>
          <a:xfrm>
            <a:off x="695603" y="420807"/>
            <a:ext cx="557607" cy="557607"/>
          </a:xfrm>
          <a:custGeom>
            <a:avLst/>
            <a:gdLst/>
            <a:ahLst/>
            <a:cxnLst/>
            <a:rect l="l" t="t" r="r" b="b"/>
            <a:pathLst>
              <a:path w="557607" h="557607">
                <a:moveTo>
                  <a:pt x="0" y="0"/>
                </a:moveTo>
                <a:lnTo>
                  <a:pt x="557607" y="0"/>
                </a:lnTo>
                <a:lnTo>
                  <a:pt x="557607" y="557607"/>
                </a:lnTo>
                <a:lnTo>
                  <a:pt x="0" y="557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5" name="Group 5"/>
          <p:cNvGrpSpPr/>
          <p:nvPr/>
        </p:nvGrpSpPr>
        <p:grpSpPr>
          <a:xfrm>
            <a:off x="699434" y="1303769"/>
            <a:ext cx="3759694" cy="7342636"/>
            <a:chOff x="0" y="0"/>
            <a:chExt cx="990207" cy="1933863"/>
          </a:xfrm>
        </p:grpSpPr>
        <p:sp>
          <p:nvSpPr>
            <p:cNvPr id="6" name="Freeform 6"/>
            <p:cNvSpPr/>
            <p:nvPr/>
          </p:nvSpPr>
          <p:spPr>
            <a:xfrm>
              <a:off x="0" y="0"/>
              <a:ext cx="990207" cy="1933863"/>
            </a:xfrm>
            <a:custGeom>
              <a:avLst/>
              <a:gdLst/>
              <a:ahLst/>
              <a:cxnLst/>
              <a:rect l="l" t="t" r="r" b="b"/>
              <a:pathLst>
                <a:path w="990207" h="1933863">
                  <a:moveTo>
                    <a:pt x="20592" y="0"/>
                  </a:moveTo>
                  <a:lnTo>
                    <a:pt x="969616" y="0"/>
                  </a:lnTo>
                  <a:cubicBezTo>
                    <a:pt x="980988" y="0"/>
                    <a:pt x="990207" y="9219"/>
                    <a:pt x="990207" y="20592"/>
                  </a:cubicBezTo>
                  <a:lnTo>
                    <a:pt x="990207" y="1913271"/>
                  </a:lnTo>
                  <a:cubicBezTo>
                    <a:pt x="990207" y="1918732"/>
                    <a:pt x="988038" y="1923970"/>
                    <a:pt x="984176" y="1927832"/>
                  </a:cubicBezTo>
                  <a:cubicBezTo>
                    <a:pt x="980314" y="1931694"/>
                    <a:pt x="975077" y="1933863"/>
                    <a:pt x="969616" y="1933863"/>
                  </a:cubicBezTo>
                  <a:lnTo>
                    <a:pt x="20592" y="1933863"/>
                  </a:lnTo>
                  <a:cubicBezTo>
                    <a:pt x="9219" y="1933863"/>
                    <a:pt x="0" y="1924644"/>
                    <a:pt x="0" y="1913271"/>
                  </a:cubicBezTo>
                  <a:lnTo>
                    <a:pt x="0" y="20592"/>
                  </a:lnTo>
                  <a:cubicBezTo>
                    <a:pt x="0" y="9219"/>
                    <a:pt x="9219" y="0"/>
                    <a:pt x="20592" y="0"/>
                  </a:cubicBezTo>
                  <a:close/>
                </a:path>
              </a:pathLst>
            </a:custGeom>
            <a:ln w="95250" cap="sq">
              <a:solidFill>
                <a:srgbClr val="0097B2"/>
              </a:solidFill>
              <a:prstDash val="solid"/>
              <a:miter/>
            </a:ln>
          </p:spPr>
        </p:sp>
        <p:sp>
          <p:nvSpPr>
            <p:cNvPr id="7" name="TextBox 7"/>
            <p:cNvSpPr txBox="1"/>
            <p:nvPr/>
          </p:nvSpPr>
          <p:spPr>
            <a:xfrm>
              <a:off x="0" y="-66675"/>
              <a:ext cx="990207" cy="2000538"/>
            </a:xfrm>
            <a:prstGeom prst="rect">
              <a:avLst/>
            </a:prstGeom>
          </p:spPr>
          <p:txBody>
            <a:bodyPr lIns="50800" tIns="50800" rIns="50800" bIns="50800" rtlCol="0" anchor="ctr"/>
            <a:lstStyle/>
            <a:p>
              <a:pPr algn="l">
                <a:lnSpc>
                  <a:spcPts val="3918"/>
                </a:lnSpc>
              </a:pPr>
              <a:r>
                <a:rPr lang="en-US" sz="2798" spc="5">
                  <a:solidFill>
                    <a:srgbClr val="FFFFFF"/>
                  </a:solidFill>
                  <a:latin typeface="Open Sauce"/>
                  <a:ea typeface="Open Sauce"/>
                  <a:cs typeface="Open Sauce"/>
                  <a:sym typeface="Open Sauce"/>
                </a:rPr>
                <a:t>main.py (Điểm vào - Entry Point): </a:t>
              </a:r>
            </a:p>
            <a:p>
              <a:pPr algn="l">
                <a:lnSpc>
                  <a:spcPts val="3918"/>
                </a:lnSpc>
              </a:pPr>
              <a:endParaRPr lang="en-US" sz="2798" spc="5">
                <a:solidFill>
                  <a:srgbClr val="FFFFFF"/>
                </a:solidFill>
                <a:latin typeface="Open Sauce"/>
                <a:ea typeface="Open Sauce"/>
                <a:cs typeface="Open Sauce"/>
                <a:sym typeface="Open Sauce"/>
              </a:endParaRPr>
            </a:p>
            <a:p>
              <a:pPr algn="l">
                <a:lnSpc>
                  <a:spcPts val="3918"/>
                </a:lnSpc>
              </a:pPr>
              <a:r>
                <a:rPr lang="en-US" sz="2798" spc="5">
                  <a:solidFill>
                    <a:srgbClr val="FFFFFF"/>
                  </a:solidFill>
                  <a:latin typeface="Open Sauce"/>
                  <a:ea typeface="Open Sauce"/>
                  <a:cs typeface="Open Sauce"/>
                  <a:sym typeface="Open Sauce"/>
                </a:rPr>
                <a:t>Trình khởi động ứng dụng. </a:t>
              </a:r>
            </a:p>
            <a:p>
              <a:pPr algn="l">
                <a:lnSpc>
                  <a:spcPts val="3918"/>
                </a:lnSpc>
              </a:pPr>
              <a:endParaRPr lang="en-US" sz="2798" spc="5">
                <a:solidFill>
                  <a:srgbClr val="FFFFFF"/>
                </a:solidFill>
                <a:latin typeface="Open Sauce"/>
                <a:ea typeface="Open Sauce"/>
                <a:cs typeface="Open Sauce"/>
                <a:sym typeface="Open Sauce"/>
              </a:endParaRPr>
            </a:p>
            <a:p>
              <a:pPr algn="l">
                <a:lnSpc>
                  <a:spcPts val="3918"/>
                </a:lnSpc>
              </a:pPr>
              <a:r>
                <a:rPr lang="en-US" sz="2798" spc="5">
                  <a:solidFill>
                    <a:srgbClr val="FFFFFF"/>
                  </a:solidFill>
                  <a:latin typeface="Open Sauce"/>
                  <a:ea typeface="Open Sauce"/>
                  <a:cs typeface="Open Sauce"/>
                  <a:sym typeface="Open Sauce"/>
                </a:rPr>
                <a:t>Khởi tạo môi trường và gọi vòng lặp thực thi chính.</a:t>
              </a:r>
            </a:p>
          </p:txBody>
        </p:sp>
      </p:grpSp>
      <p:grpSp>
        <p:nvGrpSpPr>
          <p:cNvPr id="8" name="Group 8"/>
          <p:cNvGrpSpPr/>
          <p:nvPr/>
        </p:nvGrpSpPr>
        <p:grpSpPr>
          <a:xfrm>
            <a:off x="5057122" y="1421690"/>
            <a:ext cx="3759694" cy="7224715"/>
            <a:chOff x="0" y="0"/>
            <a:chExt cx="990207" cy="1902806"/>
          </a:xfrm>
        </p:grpSpPr>
        <p:sp>
          <p:nvSpPr>
            <p:cNvPr id="9" name="Freeform 9"/>
            <p:cNvSpPr/>
            <p:nvPr/>
          </p:nvSpPr>
          <p:spPr>
            <a:xfrm>
              <a:off x="0" y="0"/>
              <a:ext cx="990207" cy="1902806"/>
            </a:xfrm>
            <a:custGeom>
              <a:avLst/>
              <a:gdLst/>
              <a:ahLst/>
              <a:cxnLst/>
              <a:rect l="l" t="t" r="r" b="b"/>
              <a:pathLst>
                <a:path w="990207" h="1902806">
                  <a:moveTo>
                    <a:pt x="20592" y="0"/>
                  </a:moveTo>
                  <a:lnTo>
                    <a:pt x="969616" y="0"/>
                  </a:lnTo>
                  <a:cubicBezTo>
                    <a:pt x="980988" y="0"/>
                    <a:pt x="990207" y="9219"/>
                    <a:pt x="990207" y="20592"/>
                  </a:cubicBezTo>
                  <a:lnTo>
                    <a:pt x="990207" y="1882214"/>
                  </a:lnTo>
                  <a:cubicBezTo>
                    <a:pt x="990207" y="1893586"/>
                    <a:pt x="980988" y="1902806"/>
                    <a:pt x="969616" y="1902806"/>
                  </a:cubicBezTo>
                  <a:lnTo>
                    <a:pt x="20592" y="1902806"/>
                  </a:lnTo>
                  <a:cubicBezTo>
                    <a:pt x="15131" y="1902806"/>
                    <a:pt x="9893" y="1900636"/>
                    <a:pt x="6031" y="1896774"/>
                  </a:cubicBezTo>
                  <a:cubicBezTo>
                    <a:pt x="2169" y="1892913"/>
                    <a:pt x="0" y="1887675"/>
                    <a:pt x="0" y="1882214"/>
                  </a:cubicBezTo>
                  <a:lnTo>
                    <a:pt x="0" y="20592"/>
                  </a:lnTo>
                  <a:cubicBezTo>
                    <a:pt x="0" y="9219"/>
                    <a:pt x="9219" y="0"/>
                    <a:pt x="20592" y="0"/>
                  </a:cubicBezTo>
                  <a:close/>
                </a:path>
              </a:pathLst>
            </a:custGeom>
            <a:ln w="95250" cap="sq">
              <a:solidFill>
                <a:srgbClr val="0097B2"/>
              </a:solidFill>
              <a:prstDash val="solid"/>
              <a:miter/>
            </a:ln>
          </p:spPr>
        </p:sp>
        <p:sp>
          <p:nvSpPr>
            <p:cNvPr id="10" name="TextBox 10"/>
            <p:cNvSpPr txBox="1"/>
            <p:nvPr/>
          </p:nvSpPr>
          <p:spPr>
            <a:xfrm>
              <a:off x="0" y="-66675"/>
              <a:ext cx="990207" cy="1969481"/>
            </a:xfrm>
            <a:prstGeom prst="rect">
              <a:avLst/>
            </a:prstGeom>
          </p:spPr>
          <p:txBody>
            <a:bodyPr lIns="50800" tIns="50800" rIns="50800" bIns="50800" rtlCol="0" anchor="ctr"/>
            <a:lstStyle/>
            <a:p>
              <a:pPr algn="l">
                <a:lnSpc>
                  <a:spcPts val="3918"/>
                </a:lnSpc>
              </a:pPr>
              <a:r>
                <a:rPr lang="en-US" sz="2798" spc="5">
                  <a:solidFill>
                    <a:srgbClr val="FFFFFF"/>
                  </a:solidFill>
                  <a:latin typeface="Open Sauce"/>
                  <a:ea typeface="Open Sauce"/>
                  <a:cs typeface="Open Sauce"/>
                  <a:sym typeface="Open Sauce"/>
                </a:rPr>
                <a:t>guifinal.py (Giao diện - UI Layer): </a:t>
              </a:r>
            </a:p>
            <a:p>
              <a:pPr algn="l">
                <a:lnSpc>
                  <a:spcPts val="3918"/>
                </a:lnSpc>
              </a:pPr>
              <a:endParaRPr lang="en-US" sz="2798" spc="5">
                <a:solidFill>
                  <a:srgbClr val="FFFFFF"/>
                </a:solidFill>
                <a:latin typeface="Open Sauce"/>
                <a:ea typeface="Open Sauce"/>
                <a:cs typeface="Open Sauce"/>
                <a:sym typeface="Open Sauce"/>
              </a:endParaRPr>
            </a:p>
            <a:p>
              <a:pPr algn="l">
                <a:lnSpc>
                  <a:spcPts val="3918"/>
                </a:lnSpc>
              </a:pPr>
              <a:r>
                <a:rPr lang="en-US" sz="2798" spc="5">
                  <a:solidFill>
                    <a:srgbClr val="FFFFFF"/>
                  </a:solidFill>
                  <a:latin typeface="Open Sauce"/>
                  <a:ea typeface="Open Sauce"/>
                  <a:cs typeface="Open Sauce"/>
                  <a:sym typeface="Open Sauce"/>
                </a:rPr>
                <a:t>Sử dụng thư viện CustomTkinter. </a:t>
              </a:r>
            </a:p>
            <a:p>
              <a:pPr algn="l">
                <a:lnSpc>
                  <a:spcPts val="3918"/>
                </a:lnSpc>
              </a:pPr>
              <a:endParaRPr lang="en-US" sz="2798" spc="5">
                <a:solidFill>
                  <a:srgbClr val="FFFFFF"/>
                </a:solidFill>
                <a:latin typeface="Open Sauce"/>
                <a:ea typeface="Open Sauce"/>
                <a:cs typeface="Open Sauce"/>
                <a:sym typeface="Open Sauce"/>
              </a:endParaRPr>
            </a:p>
            <a:p>
              <a:pPr algn="l">
                <a:lnSpc>
                  <a:spcPts val="3918"/>
                </a:lnSpc>
              </a:pPr>
              <a:r>
                <a:rPr lang="en-US" sz="2798" spc="5">
                  <a:solidFill>
                    <a:srgbClr val="FFFFFF"/>
                  </a:solidFill>
                  <a:latin typeface="Open Sauce"/>
                  <a:ea typeface="Open Sauce"/>
                  <a:cs typeface="Open Sauce"/>
                  <a:sym typeface="Open Sauce"/>
                </a:rPr>
                <a:t>Xử lý nạp dữ liệu CSV, các sự kiện nhập liệu của người dùng và hiển thị trình trực quan hóa Canvas động.</a:t>
              </a:r>
            </a:p>
          </p:txBody>
        </p:sp>
      </p:grpSp>
      <p:grpSp>
        <p:nvGrpSpPr>
          <p:cNvPr id="11" name="Group 11"/>
          <p:cNvGrpSpPr/>
          <p:nvPr/>
        </p:nvGrpSpPr>
        <p:grpSpPr>
          <a:xfrm>
            <a:off x="9414809" y="1421690"/>
            <a:ext cx="3759694" cy="7224715"/>
            <a:chOff x="0" y="0"/>
            <a:chExt cx="990207" cy="1902806"/>
          </a:xfrm>
        </p:grpSpPr>
        <p:sp>
          <p:nvSpPr>
            <p:cNvPr id="12" name="Freeform 12"/>
            <p:cNvSpPr/>
            <p:nvPr/>
          </p:nvSpPr>
          <p:spPr>
            <a:xfrm>
              <a:off x="0" y="0"/>
              <a:ext cx="990207" cy="1902806"/>
            </a:xfrm>
            <a:custGeom>
              <a:avLst/>
              <a:gdLst/>
              <a:ahLst/>
              <a:cxnLst/>
              <a:rect l="l" t="t" r="r" b="b"/>
              <a:pathLst>
                <a:path w="990207" h="1902806">
                  <a:moveTo>
                    <a:pt x="20592" y="0"/>
                  </a:moveTo>
                  <a:lnTo>
                    <a:pt x="969616" y="0"/>
                  </a:lnTo>
                  <a:cubicBezTo>
                    <a:pt x="980988" y="0"/>
                    <a:pt x="990207" y="9219"/>
                    <a:pt x="990207" y="20592"/>
                  </a:cubicBezTo>
                  <a:lnTo>
                    <a:pt x="990207" y="1882214"/>
                  </a:lnTo>
                  <a:cubicBezTo>
                    <a:pt x="990207" y="1893586"/>
                    <a:pt x="980988" y="1902806"/>
                    <a:pt x="969616" y="1902806"/>
                  </a:cubicBezTo>
                  <a:lnTo>
                    <a:pt x="20592" y="1902806"/>
                  </a:lnTo>
                  <a:cubicBezTo>
                    <a:pt x="15131" y="1902806"/>
                    <a:pt x="9893" y="1900636"/>
                    <a:pt x="6031" y="1896774"/>
                  </a:cubicBezTo>
                  <a:cubicBezTo>
                    <a:pt x="2169" y="1892913"/>
                    <a:pt x="0" y="1887675"/>
                    <a:pt x="0" y="1882214"/>
                  </a:cubicBezTo>
                  <a:lnTo>
                    <a:pt x="0" y="20592"/>
                  </a:lnTo>
                  <a:cubicBezTo>
                    <a:pt x="0" y="9219"/>
                    <a:pt x="9219" y="0"/>
                    <a:pt x="20592" y="0"/>
                  </a:cubicBezTo>
                  <a:close/>
                </a:path>
              </a:pathLst>
            </a:custGeom>
            <a:ln w="95250" cap="sq">
              <a:solidFill>
                <a:srgbClr val="0097B2"/>
              </a:solidFill>
              <a:prstDash val="solid"/>
              <a:miter/>
            </a:ln>
          </p:spPr>
        </p:sp>
        <p:sp>
          <p:nvSpPr>
            <p:cNvPr id="13" name="TextBox 13"/>
            <p:cNvSpPr txBox="1"/>
            <p:nvPr/>
          </p:nvSpPr>
          <p:spPr>
            <a:xfrm>
              <a:off x="0" y="-66675"/>
              <a:ext cx="990207" cy="1969481"/>
            </a:xfrm>
            <a:prstGeom prst="rect">
              <a:avLst/>
            </a:prstGeom>
          </p:spPr>
          <p:txBody>
            <a:bodyPr lIns="50800" tIns="50800" rIns="50800" bIns="50800" rtlCol="0" anchor="ctr"/>
            <a:lstStyle/>
            <a:p>
              <a:pPr algn="l">
                <a:lnSpc>
                  <a:spcPts val="3918"/>
                </a:lnSpc>
              </a:pPr>
              <a:r>
                <a:rPr lang="en-US" sz="2798" spc="5">
                  <a:solidFill>
                    <a:srgbClr val="FFFFFF"/>
                  </a:solidFill>
                  <a:latin typeface="Open Sauce"/>
                  <a:ea typeface="Open Sauce"/>
                  <a:cs typeface="Open Sauce"/>
                  <a:sym typeface="Open Sauce"/>
                </a:rPr>
                <a:t>main_logic.py (Thuật toán - Algorithm Engine): </a:t>
              </a:r>
            </a:p>
            <a:p>
              <a:pPr algn="l">
                <a:lnSpc>
                  <a:spcPts val="3918"/>
                </a:lnSpc>
              </a:pPr>
              <a:endParaRPr lang="en-US" sz="2798" spc="5">
                <a:solidFill>
                  <a:srgbClr val="FFFFFF"/>
                </a:solidFill>
                <a:latin typeface="Open Sauce"/>
                <a:ea typeface="Open Sauce"/>
                <a:cs typeface="Open Sauce"/>
                <a:sym typeface="Open Sauce"/>
              </a:endParaRPr>
            </a:p>
            <a:p>
              <a:pPr algn="l">
                <a:lnSpc>
                  <a:spcPts val="3918"/>
                </a:lnSpc>
              </a:pPr>
              <a:r>
                <a:rPr lang="en-US" sz="2798" spc="5">
                  <a:solidFill>
                    <a:srgbClr val="FFFFFF"/>
                  </a:solidFill>
                  <a:latin typeface="Open Sauce"/>
                  <a:ea typeface="Open Sauce"/>
                  <a:cs typeface="Open Sauce"/>
                  <a:sym typeface="Open Sauce"/>
                </a:rPr>
                <a:t>Các phép toán Python thuần túy.</a:t>
              </a:r>
            </a:p>
            <a:p>
              <a:pPr algn="l">
                <a:lnSpc>
                  <a:spcPts val="3918"/>
                </a:lnSpc>
              </a:pPr>
              <a:endParaRPr lang="en-US" sz="2798" spc="5">
                <a:solidFill>
                  <a:srgbClr val="FFFFFF"/>
                </a:solidFill>
                <a:latin typeface="Open Sauce"/>
                <a:ea typeface="Open Sauce"/>
                <a:cs typeface="Open Sauce"/>
                <a:sym typeface="Open Sauce"/>
              </a:endParaRPr>
            </a:p>
            <a:p>
              <a:pPr algn="l">
                <a:lnSpc>
                  <a:spcPts val="3918"/>
                </a:lnSpc>
              </a:pPr>
              <a:r>
                <a:rPr lang="en-US" sz="2798" spc="5">
                  <a:solidFill>
                    <a:srgbClr val="FFFFFF"/>
                  </a:solidFill>
                  <a:latin typeface="Open Sauce"/>
                  <a:ea typeface="Open Sauce"/>
                  <a:cs typeface="Open Sauce"/>
                  <a:sym typeface="Open Sauce"/>
                </a:rPr>
                <a:t>Tính toán vị trí các khối, giới hạn phân mảnh nội bộ và trạng thái cấp phát tách biệt hoàn toàn với phần hiển thị đồ họa.</a:t>
              </a:r>
            </a:p>
          </p:txBody>
        </p:sp>
      </p:grpSp>
      <p:grpSp>
        <p:nvGrpSpPr>
          <p:cNvPr id="14" name="Group 14"/>
          <p:cNvGrpSpPr/>
          <p:nvPr/>
        </p:nvGrpSpPr>
        <p:grpSpPr>
          <a:xfrm>
            <a:off x="13774578" y="1421690"/>
            <a:ext cx="3813987" cy="7224715"/>
            <a:chOff x="0" y="0"/>
            <a:chExt cx="1004507" cy="1902806"/>
          </a:xfrm>
        </p:grpSpPr>
        <p:sp>
          <p:nvSpPr>
            <p:cNvPr id="15" name="Freeform 15"/>
            <p:cNvSpPr/>
            <p:nvPr/>
          </p:nvSpPr>
          <p:spPr>
            <a:xfrm>
              <a:off x="0" y="0"/>
              <a:ext cx="1004507" cy="1902806"/>
            </a:xfrm>
            <a:custGeom>
              <a:avLst/>
              <a:gdLst/>
              <a:ahLst/>
              <a:cxnLst/>
              <a:rect l="l" t="t" r="r" b="b"/>
              <a:pathLst>
                <a:path w="1004507" h="1902806">
                  <a:moveTo>
                    <a:pt x="20299" y="0"/>
                  </a:moveTo>
                  <a:lnTo>
                    <a:pt x="984208" y="0"/>
                  </a:lnTo>
                  <a:cubicBezTo>
                    <a:pt x="989592" y="0"/>
                    <a:pt x="994755" y="2139"/>
                    <a:pt x="998562" y="5945"/>
                  </a:cubicBezTo>
                  <a:cubicBezTo>
                    <a:pt x="1002368" y="9752"/>
                    <a:pt x="1004507" y="14915"/>
                    <a:pt x="1004507" y="20299"/>
                  </a:cubicBezTo>
                  <a:lnTo>
                    <a:pt x="1004507" y="1882507"/>
                  </a:lnTo>
                  <a:cubicBezTo>
                    <a:pt x="1004507" y="1893718"/>
                    <a:pt x="995419" y="1902806"/>
                    <a:pt x="984208" y="1902806"/>
                  </a:cubicBezTo>
                  <a:lnTo>
                    <a:pt x="20299" y="1902806"/>
                  </a:lnTo>
                  <a:cubicBezTo>
                    <a:pt x="14915" y="1902806"/>
                    <a:pt x="9752" y="1900667"/>
                    <a:pt x="5945" y="1896860"/>
                  </a:cubicBezTo>
                  <a:cubicBezTo>
                    <a:pt x="2139" y="1893053"/>
                    <a:pt x="0" y="1887890"/>
                    <a:pt x="0" y="1882507"/>
                  </a:cubicBezTo>
                  <a:lnTo>
                    <a:pt x="0" y="20299"/>
                  </a:lnTo>
                  <a:cubicBezTo>
                    <a:pt x="0" y="9088"/>
                    <a:pt x="9088" y="0"/>
                    <a:pt x="20299" y="0"/>
                  </a:cubicBezTo>
                  <a:close/>
                </a:path>
              </a:pathLst>
            </a:custGeom>
            <a:ln w="95250" cap="sq">
              <a:solidFill>
                <a:srgbClr val="0097B2"/>
              </a:solidFill>
              <a:prstDash val="solid"/>
              <a:miter/>
            </a:ln>
          </p:spPr>
        </p:sp>
        <p:sp>
          <p:nvSpPr>
            <p:cNvPr id="16" name="TextBox 16"/>
            <p:cNvSpPr txBox="1"/>
            <p:nvPr/>
          </p:nvSpPr>
          <p:spPr>
            <a:xfrm>
              <a:off x="0" y="-57150"/>
              <a:ext cx="1004507" cy="1959956"/>
            </a:xfrm>
            <a:prstGeom prst="rect">
              <a:avLst/>
            </a:prstGeom>
          </p:spPr>
          <p:txBody>
            <a:bodyPr lIns="50800" tIns="50800" rIns="50800" bIns="50800" rtlCol="0" anchor="ctr"/>
            <a:lstStyle/>
            <a:p>
              <a:pPr algn="l">
                <a:lnSpc>
                  <a:spcPts val="4198"/>
                </a:lnSpc>
              </a:pPr>
              <a:r>
                <a:rPr lang="en-US" sz="2998" spc="5">
                  <a:solidFill>
                    <a:srgbClr val="FFFFFF"/>
                  </a:solidFill>
                  <a:latin typeface="Open Sauce"/>
                  <a:ea typeface="Open Sauce"/>
                  <a:cs typeface="Open Sauce"/>
                  <a:sym typeface="Open Sauce"/>
                </a:rPr>
                <a:t>run_stress_test.py (Đo lường CLI):</a:t>
              </a:r>
            </a:p>
            <a:p>
              <a:pPr algn="l">
                <a:lnSpc>
                  <a:spcPts val="4198"/>
                </a:lnSpc>
              </a:pPr>
              <a:endParaRPr lang="en-US" sz="2998" spc="5">
                <a:solidFill>
                  <a:srgbClr val="FFFFFF"/>
                </a:solidFill>
                <a:latin typeface="Open Sauce"/>
                <a:ea typeface="Open Sauce"/>
                <a:cs typeface="Open Sauce"/>
                <a:sym typeface="Open Sauce"/>
              </a:endParaRPr>
            </a:p>
            <a:p>
              <a:pPr algn="l">
                <a:lnSpc>
                  <a:spcPts val="4198"/>
                </a:lnSpc>
              </a:pPr>
              <a:r>
                <a:rPr lang="en-US" sz="2998" spc="5">
                  <a:solidFill>
                    <a:srgbClr val="FFFFFF"/>
                  </a:solidFill>
                  <a:latin typeface="Open Sauce"/>
                  <a:ea typeface="Open Sauce"/>
                  <a:cs typeface="Open Sauce"/>
                  <a:sym typeface="Open Sauce"/>
                </a:rPr>
                <a:t>Một mô-đun hiệu suất độc lập được xây dựng để bỏ qua việc hiển thị giao diện, nhằm kiểm tra áp lực tính toán thuần túy.</a:t>
              </a:r>
            </a:p>
          </p:txBody>
        </p:sp>
      </p:grpSp>
      <p:grpSp>
        <p:nvGrpSpPr>
          <p:cNvPr id="17" name="Group 17"/>
          <p:cNvGrpSpPr/>
          <p:nvPr/>
        </p:nvGrpSpPr>
        <p:grpSpPr>
          <a:xfrm>
            <a:off x="4076157" y="4653018"/>
            <a:ext cx="980965" cy="980965"/>
            <a:chOff x="0" y="0"/>
            <a:chExt cx="812800" cy="812800"/>
          </a:xfrm>
        </p:grpSpPr>
        <p:sp>
          <p:nvSpPr>
            <p:cNvPr id="18" name="Freeform 18"/>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97B2"/>
            </a:solidFill>
          </p:spPr>
        </p:sp>
        <p:sp>
          <p:nvSpPr>
            <p:cNvPr id="19" name="TextBox 19"/>
            <p:cNvSpPr txBox="1"/>
            <p:nvPr/>
          </p:nvSpPr>
          <p:spPr>
            <a:xfrm>
              <a:off x="0" y="174625"/>
              <a:ext cx="711200" cy="434975"/>
            </a:xfrm>
            <a:prstGeom prst="rect">
              <a:avLst/>
            </a:prstGeom>
          </p:spPr>
          <p:txBody>
            <a:bodyPr lIns="50800" tIns="50800" rIns="50800" bIns="50800" rtlCol="0" anchor="ctr"/>
            <a:lstStyle/>
            <a:p>
              <a:pPr algn="ctr">
                <a:lnSpc>
                  <a:spcPts val="2378"/>
                </a:lnSpc>
              </a:pPr>
              <a:endParaRPr/>
            </a:p>
          </p:txBody>
        </p:sp>
      </p:grpSp>
      <p:sp>
        <p:nvSpPr>
          <p:cNvPr id="20" name="TextBox 20"/>
          <p:cNvSpPr txBox="1"/>
          <p:nvPr/>
        </p:nvSpPr>
        <p:spPr>
          <a:xfrm>
            <a:off x="1735466" y="397467"/>
            <a:ext cx="4609634" cy="489742"/>
          </a:xfrm>
          <a:prstGeom prst="rect">
            <a:avLst/>
          </a:prstGeom>
        </p:spPr>
        <p:txBody>
          <a:bodyPr lIns="0" tIns="0" rIns="0" bIns="0" rtlCol="0" anchor="t">
            <a:spAutoFit/>
          </a:bodyPr>
          <a:lstStyle/>
          <a:p>
            <a:pPr marL="0" lvl="0" indent="0" algn="l">
              <a:lnSpc>
                <a:spcPts val="3981"/>
              </a:lnSpc>
              <a:spcBef>
                <a:spcPct val="0"/>
              </a:spcBef>
            </a:pPr>
            <a:r>
              <a:rPr lang="en-US" sz="2843" spc="5">
                <a:solidFill>
                  <a:srgbClr val="FFFFFF"/>
                </a:solidFill>
                <a:latin typeface="Open Sauce"/>
                <a:ea typeface="Open Sauce"/>
                <a:cs typeface="Open Sauce"/>
                <a:sym typeface="Open Sauce"/>
              </a:rPr>
              <a:t>Group 9</a:t>
            </a:r>
          </a:p>
        </p:txBody>
      </p:sp>
      <p:grpSp>
        <p:nvGrpSpPr>
          <p:cNvPr id="21" name="Group 21"/>
          <p:cNvGrpSpPr/>
          <p:nvPr/>
        </p:nvGrpSpPr>
        <p:grpSpPr>
          <a:xfrm>
            <a:off x="8433845" y="4653018"/>
            <a:ext cx="980965" cy="980965"/>
            <a:chOff x="0" y="0"/>
            <a:chExt cx="812800" cy="812800"/>
          </a:xfrm>
        </p:grpSpPr>
        <p:sp>
          <p:nvSpPr>
            <p:cNvPr id="22" name="Freeform 22"/>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97B2"/>
            </a:solidFill>
          </p:spPr>
        </p:sp>
        <p:sp>
          <p:nvSpPr>
            <p:cNvPr id="23" name="TextBox 23"/>
            <p:cNvSpPr txBox="1"/>
            <p:nvPr/>
          </p:nvSpPr>
          <p:spPr>
            <a:xfrm>
              <a:off x="0" y="174625"/>
              <a:ext cx="711200" cy="434975"/>
            </a:xfrm>
            <a:prstGeom prst="rect">
              <a:avLst/>
            </a:prstGeom>
          </p:spPr>
          <p:txBody>
            <a:bodyPr lIns="50800" tIns="50800" rIns="50800" bIns="50800" rtlCol="0" anchor="ctr"/>
            <a:lstStyle/>
            <a:p>
              <a:pPr algn="ctr">
                <a:lnSpc>
                  <a:spcPts val="2378"/>
                </a:lnSpc>
              </a:pPr>
              <a:endParaRPr/>
            </a:p>
          </p:txBody>
        </p:sp>
      </p:grpSp>
      <p:grpSp>
        <p:nvGrpSpPr>
          <p:cNvPr id="24" name="Group 24"/>
          <p:cNvGrpSpPr/>
          <p:nvPr/>
        </p:nvGrpSpPr>
        <p:grpSpPr>
          <a:xfrm>
            <a:off x="12796184" y="4653018"/>
            <a:ext cx="980965" cy="980965"/>
            <a:chOff x="0" y="0"/>
            <a:chExt cx="812800" cy="812800"/>
          </a:xfrm>
        </p:grpSpPr>
        <p:sp>
          <p:nvSpPr>
            <p:cNvPr id="25" name="Freeform 25"/>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97B2"/>
            </a:solidFill>
          </p:spPr>
        </p:sp>
        <p:sp>
          <p:nvSpPr>
            <p:cNvPr id="26" name="TextBox 26"/>
            <p:cNvSpPr txBox="1"/>
            <p:nvPr/>
          </p:nvSpPr>
          <p:spPr>
            <a:xfrm>
              <a:off x="0" y="174625"/>
              <a:ext cx="711200" cy="434975"/>
            </a:xfrm>
            <a:prstGeom prst="rect">
              <a:avLst/>
            </a:prstGeom>
          </p:spPr>
          <p:txBody>
            <a:bodyPr lIns="50800" tIns="50800" rIns="50800" bIns="50800" rtlCol="0" anchor="ctr"/>
            <a:lstStyle/>
            <a:p>
              <a:pPr algn="ctr">
                <a:lnSpc>
                  <a:spcPts val="2378"/>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2"/>
            <a:stretch>
              <a:fillRect/>
            </a:stretch>
          </a:blipFill>
        </p:spPr>
      </p:sp>
      <p:sp>
        <p:nvSpPr>
          <p:cNvPr id="3" name="Freeform 3"/>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3"/>
            <a:stretch>
              <a:fillRect/>
            </a:stretch>
          </a:blipFill>
        </p:spPr>
      </p:sp>
      <p:sp>
        <p:nvSpPr>
          <p:cNvPr id="4" name="Freeform 4"/>
          <p:cNvSpPr/>
          <p:nvPr/>
        </p:nvSpPr>
        <p:spPr>
          <a:xfrm>
            <a:off x="695603" y="420807"/>
            <a:ext cx="557607" cy="557607"/>
          </a:xfrm>
          <a:custGeom>
            <a:avLst/>
            <a:gdLst/>
            <a:ahLst/>
            <a:cxnLst/>
            <a:rect l="l" t="t" r="r" b="b"/>
            <a:pathLst>
              <a:path w="557607" h="557607">
                <a:moveTo>
                  <a:pt x="0" y="0"/>
                </a:moveTo>
                <a:lnTo>
                  <a:pt x="557607" y="0"/>
                </a:lnTo>
                <a:lnTo>
                  <a:pt x="557607" y="557607"/>
                </a:lnTo>
                <a:lnTo>
                  <a:pt x="0" y="557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4581445" y="2508625"/>
            <a:ext cx="9125109" cy="5269751"/>
          </a:xfrm>
          <a:custGeom>
            <a:avLst/>
            <a:gdLst/>
            <a:ahLst/>
            <a:cxnLst/>
            <a:rect l="l" t="t" r="r" b="b"/>
            <a:pathLst>
              <a:path w="9125109" h="5269751">
                <a:moveTo>
                  <a:pt x="0" y="0"/>
                </a:moveTo>
                <a:lnTo>
                  <a:pt x="9125110" y="0"/>
                </a:lnTo>
                <a:lnTo>
                  <a:pt x="9125110" y="5269750"/>
                </a:lnTo>
                <a:lnTo>
                  <a:pt x="0" y="5269750"/>
                </a:lnTo>
                <a:lnTo>
                  <a:pt x="0" y="0"/>
                </a:lnTo>
                <a:close/>
              </a:path>
            </a:pathLst>
          </a:custGeom>
          <a:blipFill>
            <a:blip r:embed="rId6"/>
            <a:stretch>
              <a:fillRect/>
            </a:stretch>
          </a:blipFill>
        </p:spPr>
      </p:sp>
      <p:grpSp>
        <p:nvGrpSpPr>
          <p:cNvPr id="6" name="Group 6"/>
          <p:cNvGrpSpPr/>
          <p:nvPr/>
        </p:nvGrpSpPr>
        <p:grpSpPr>
          <a:xfrm>
            <a:off x="695603" y="3070032"/>
            <a:ext cx="3011583" cy="4624291"/>
            <a:chOff x="0" y="0"/>
            <a:chExt cx="793174" cy="1217920"/>
          </a:xfrm>
        </p:grpSpPr>
        <p:sp>
          <p:nvSpPr>
            <p:cNvPr id="7" name="Freeform 7"/>
            <p:cNvSpPr/>
            <p:nvPr/>
          </p:nvSpPr>
          <p:spPr>
            <a:xfrm>
              <a:off x="0" y="0"/>
              <a:ext cx="793174" cy="1217920"/>
            </a:xfrm>
            <a:custGeom>
              <a:avLst/>
              <a:gdLst/>
              <a:ahLst/>
              <a:cxnLst/>
              <a:rect l="l" t="t" r="r" b="b"/>
              <a:pathLst>
                <a:path w="793174" h="1217920">
                  <a:moveTo>
                    <a:pt x="25707" y="0"/>
                  </a:moveTo>
                  <a:lnTo>
                    <a:pt x="767467" y="0"/>
                  </a:lnTo>
                  <a:cubicBezTo>
                    <a:pt x="781665" y="0"/>
                    <a:pt x="793174" y="11509"/>
                    <a:pt x="793174" y="25707"/>
                  </a:cubicBezTo>
                  <a:lnTo>
                    <a:pt x="793174" y="1192213"/>
                  </a:lnTo>
                  <a:cubicBezTo>
                    <a:pt x="793174" y="1199031"/>
                    <a:pt x="790466" y="1205570"/>
                    <a:pt x="785645" y="1210391"/>
                  </a:cubicBezTo>
                  <a:cubicBezTo>
                    <a:pt x="780824" y="1215212"/>
                    <a:pt x="774285" y="1217920"/>
                    <a:pt x="767467" y="1217920"/>
                  </a:cubicBezTo>
                  <a:lnTo>
                    <a:pt x="25707" y="1217920"/>
                  </a:lnTo>
                  <a:cubicBezTo>
                    <a:pt x="18889" y="1217920"/>
                    <a:pt x="12350" y="1215212"/>
                    <a:pt x="7529" y="1210391"/>
                  </a:cubicBezTo>
                  <a:cubicBezTo>
                    <a:pt x="2708" y="1205570"/>
                    <a:pt x="0" y="1199031"/>
                    <a:pt x="0" y="1192213"/>
                  </a:cubicBezTo>
                  <a:lnTo>
                    <a:pt x="0" y="25707"/>
                  </a:lnTo>
                  <a:cubicBezTo>
                    <a:pt x="0" y="18889"/>
                    <a:pt x="2708" y="12350"/>
                    <a:pt x="7529" y="7529"/>
                  </a:cubicBezTo>
                  <a:cubicBezTo>
                    <a:pt x="12350" y="2708"/>
                    <a:pt x="18889" y="0"/>
                    <a:pt x="25707" y="0"/>
                  </a:cubicBezTo>
                  <a:close/>
                </a:path>
              </a:pathLst>
            </a:custGeom>
            <a:solidFill>
              <a:srgbClr val="38B6FF"/>
            </a:solidFill>
          </p:spPr>
        </p:sp>
        <p:sp>
          <p:nvSpPr>
            <p:cNvPr id="8" name="TextBox 8"/>
            <p:cNvSpPr txBox="1"/>
            <p:nvPr/>
          </p:nvSpPr>
          <p:spPr>
            <a:xfrm>
              <a:off x="0" y="-47625"/>
              <a:ext cx="793174" cy="1265545"/>
            </a:xfrm>
            <a:prstGeom prst="rect">
              <a:avLst/>
            </a:prstGeom>
          </p:spPr>
          <p:txBody>
            <a:bodyPr lIns="50800" tIns="50800" rIns="50800" bIns="50800" rtlCol="0" anchor="ctr"/>
            <a:lstStyle/>
            <a:p>
              <a:pPr algn="l">
                <a:lnSpc>
                  <a:spcPts val="3358"/>
                </a:lnSpc>
              </a:pPr>
              <a:r>
                <a:rPr lang="en-US" sz="2398" b="1" spc="4">
                  <a:solidFill>
                    <a:srgbClr val="000000"/>
                  </a:solidFill>
                  <a:latin typeface="Open Sauce Bold"/>
                  <a:ea typeface="Open Sauce Bold"/>
                  <a:cs typeface="Open Sauce Bold"/>
                  <a:sym typeface="Open Sauce Bold"/>
                </a:rPr>
                <a:t>Thanh điều khiển (Control Sidebar):</a:t>
              </a:r>
            </a:p>
            <a:p>
              <a:pPr algn="l">
                <a:lnSpc>
                  <a:spcPts val="3358"/>
                </a:lnSpc>
              </a:pPr>
              <a:r>
                <a:rPr lang="en-US" sz="2398" spc="4">
                  <a:solidFill>
                    <a:srgbClr val="000000"/>
                  </a:solidFill>
                  <a:latin typeface="Open Sauce"/>
                  <a:ea typeface="Open Sauce"/>
                  <a:cs typeface="Open Sauce"/>
                  <a:sym typeface="Open Sauce"/>
                </a:rPr>
                <a:t>Xử lý nạp dữ liệu CSV (Khối bộ nhớ &amp; Tiến trình), chọn thuật toán và điều chỉnh tốc độ hoạt ảnh.</a:t>
              </a:r>
            </a:p>
          </p:txBody>
        </p:sp>
      </p:grpSp>
      <p:sp>
        <p:nvSpPr>
          <p:cNvPr id="9" name="TextBox 9"/>
          <p:cNvSpPr txBox="1"/>
          <p:nvPr/>
        </p:nvSpPr>
        <p:spPr>
          <a:xfrm>
            <a:off x="1735466" y="397467"/>
            <a:ext cx="4609634" cy="489742"/>
          </a:xfrm>
          <a:prstGeom prst="rect">
            <a:avLst/>
          </a:prstGeom>
        </p:spPr>
        <p:txBody>
          <a:bodyPr lIns="0" tIns="0" rIns="0" bIns="0" rtlCol="0" anchor="t">
            <a:spAutoFit/>
          </a:bodyPr>
          <a:lstStyle/>
          <a:p>
            <a:pPr marL="0" lvl="0" indent="0" algn="l">
              <a:lnSpc>
                <a:spcPts val="3981"/>
              </a:lnSpc>
              <a:spcBef>
                <a:spcPct val="0"/>
              </a:spcBef>
            </a:pPr>
            <a:r>
              <a:rPr lang="en-US" sz="2843" spc="5">
                <a:solidFill>
                  <a:srgbClr val="FFFFFF"/>
                </a:solidFill>
                <a:latin typeface="Open Sauce"/>
                <a:ea typeface="Open Sauce"/>
                <a:cs typeface="Open Sauce"/>
                <a:sym typeface="Open Sauce"/>
              </a:rPr>
              <a:t>Group 9</a:t>
            </a:r>
          </a:p>
        </p:txBody>
      </p:sp>
      <p:sp>
        <p:nvSpPr>
          <p:cNvPr id="10" name="TextBox 10"/>
          <p:cNvSpPr txBox="1"/>
          <p:nvPr/>
        </p:nvSpPr>
        <p:spPr>
          <a:xfrm>
            <a:off x="695603" y="1262680"/>
            <a:ext cx="5688194" cy="580390"/>
          </a:xfrm>
          <a:prstGeom prst="rect">
            <a:avLst/>
          </a:prstGeom>
        </p:spPr>
        <p:txBody>
          <a:bodyPr lIns="0" tIns="0" rIns="0" bIns="0" rtlCol="0" anchor="t">
            <a:spAutoFit/>
          </a:bodyPr>
          <a:lstStyle/>
          <a:p>
            <a:pPr algn="ctr">
              <a:lnSpc>
                <a:spcPts val="4759"/>
              </a:lnSpc>
              <a:spcBef>
                <a:spcPct val="0"/>
              </a:spcBef>
            </a:pPr>
            <a:r>
              <a:rPr lang="en-US" sz="3399" b="1" spc="6">
                <a:solidFill>
                  <a:srgbClr val="FFFFFF"/>
                </a:solidFill>
                <a:latin typeface="Open Sauce Bold"/>
                <a:ea typeface="Open Sauce Bold"/>
                <a:cs typeface="Open Sauce Bold"/>
                <a:sym typeface="Open Sauce Bold"/>
              </a:rPr>
              <a:t>Bảng điều khiển Mô phỏng</a:t>
            </a:r>
          </a:p>
        </p:txBody>
      </p:sp>
      <p:grpSp>
        <p:nvGrpSpPr>
          <p:cNvPr id="11" name="Group 11"/>
          <p:cNvGrpSpPr/>
          <p:nvPr/>
        </p:nvGrpSpPr>
        <p:grpSpPr>
          <a:xfrm>
            <a:off x="11190053" y="454617"/>
            <a:ext cx="6379853" cy="1773011"/>
            <a:chOff x="0" y="0"/>
            <a:chExt cx="1680290" cy="466966"/>
          </a:xfrm>
        </p:grpSpPr>
        <p:sp>
          <p:nvSpPr>
            <p:cNvPr id="12" name="Freeform 12"/>
            <p:cNvSpPr/>
            <p:nvPr/>
          </p:nvSpPr>
          <p:spPr>
            <a:xfrm>
              <a:off x="0" y="0"/>
              <a:ext cx="1680290" cy="466966"/>
            </a:xfrm>
            <a:custGeom>
              <a:avLst/>
              <a:gdLst/>
              <a:ahLst/>
              <a:cxnLst/>
              <a:rect l="l" t="t" r="r" b="b"/>
              <a:pathLst>
                <a:path w="1680290" h="466966">
                  <a:moveTo>
                    <a:pt x="12135" y="0"/>
                  </a:moveTo>
                  <a:lnTo>
                    <a:pt x="1668156" y="0"/>
                  </a:lnTo>
                  <a:cubicBezTo>
                    <a:pt x="1674857" y="0"/>
                    <a:pt x="1680290" y="5433"/>
                    <a:pt x="1680290" y="12135"/>
                  </a:cubicBezTo>
                  <a:lnTo>
                    <a:pt x="1680290" y="454831"/>
                  </a:lnTo>
                  <a:cubicBezTo>
                    <a:pt x="1680290" y="461533"/>
                    <a:pt x="1674857" y="466966"/>
                    <a:pt x="1668156" y="466966"/>
                  </a:cubicBezTo>
                  <a:lnTo>
                    <a:pt x="12135" y="466966"/>
                  </a:lnTo>
                  <a:cubicBezTo>
                    <a:pt x="5433" y="466966"/>
                    <a:pt x="0" y="461533"/>
                    <a:pt x="0" y="454831"/>
                  </a:cubicBezTo>
                  <a:lnTo>
                    <a:pt x="0" y="12135"/>
                  </a:lnTo>
                  <a:cubicBezTo>
                    <a:pt x="0" y="5433"/>
                    <a:pt x="5433" y="0"/>
                    <a:pt x="12135" y="0"/>
                  </a:cubicBezTo>
                  <a:close/>
                </a:path>
              </a:pathLst>
            </a:custGeom>
            <a:solidFill>
              <a:srgbClr val="38B6FF"/>
            </a:solidFill>
            <a:ln cap="sq">
              <a:noFill/>
              <a:prstDash val="solid"/>
              <a:miter/>
            </a:ln>
          </p:spPr>
        </p:sp>
        <p:sp>
          <p:nvSpPr>
            <p:cNvPr id="13" name="TextBox 13"/>
            <p:cNvSpPr txBox="1"/>
            <p:nvPr/>
          </p:nvSpPr>
          <p:spPr>
            <a:xfrm>
              <a:off x="0" y="-47625"/>
              <a:ext cx="1680290" cy="514591"/>
            </a:xfrm>
            <a:prstGeom prst="rect">
              <a:avLst/>
            </a:prstGeom>
          </p:spPr>
          <p:txBody>
            <a:bodyPr lIns="50800" tIns="50800" rIns="50800" bIns="50800" rtlCol="0" anchor="ctr"/>
            <a:lstStyle/>
            <a:p>
              <a:pPr algn="l">
                <a:lnSpc>
                  <a:spcPts val="3358"/>
                </a:lnSpc>
              </a:pPr>
              <a:r>
                <a:rPr lang="en-US" sz="2398" b="1" spc="4">
                  <a:solidFill>
                    <a:srgbClr val="000000"/>
                  </a:solidFill>
                  <a:latin typeface="Open Sauce Bold"/>
                  <a:ea typeface="Open Sauce Bold"/>
                  <a:cs typeface="Open Sauce Bold"/>
                  <a:sym typeface="Open Sauce Bold"/>
                </a:rPr>
                <a:t>Bảng đo lường (Telemetry Dashboard):</a:t>
              </a:r>
            </a:p>
            <a:p>
              <a:pPr algn="l">
                <a:lnSpc>
                  <a:spcPts val="3358"/>
                </a:lnSpc>
              </a:pPr>
              <a:r>
                <a:rPr lang="en-US" sz="2398" spc="4">
                  <a:solidFill>
                    <a:srgbClr val="000000"/>
                  </a:solidFill>
                  <a:latin typeface="Open Sauce"/>
                  <a:ea typeface="Open Sauce"/>
                  <a:cs typeface="Open Sauce"/>
                  <a:sym typeface="Open Sauce"/>
                </a:rPr>
                <a:t>Các chỉ số thời gian thực theo dõi số lần cấp phát thành công so với thất bại, cùng với phần trăm sử dụng bộ nhớ tổng thể.</a:t>
              </a:r>
            </a:p>
          </p:txBody>
        </p:sp>
      </p:grpSp>
      <p:grpSp>
        <p:nvGrpSpPr>
          <p:cNvPr id="14" name="Group 14"/>
          <p:cNvGrpSpPr/>
          <p:nvPr/>
        </p:nvGrpSpPr>
        <p:grpSpPr>
          <a:xfrm>
            <a:off x="14379979" y="2754160"/>
            <a:ext cx="3091804" cy="4778681"/>
            <a:chOff x="0" y="0"/>
            <a:chExt cx="814302" cy="1258583"/>
          </a:xfrm>
        </p:grpSpPr>
        <p:sp>
          <p:nvSpPr>
            <p:cNvPr id="15" name="Freeform 15"/>
            <p:cNvSpPr/>
            <p:nvPr/>
          </p:nvSpPr>
          <p:spPr>
            <a:xfrm>
              <a:off x="0" y="0"/>
              <a:ext cx="814302" cy="1258583"/>
            </a:xfrm>
            <a:custGeom>
              <a:avLst/>
              <a:gdLst/>
              <a:ahLst/>
              <a:cxnLst/>
              <a:rect l="l" t="t" r="r" b="b"/>
              <a:pathLst>
                <a:path w="814302" h="1258583">
                  <a:moveTo>
                    <a:pt x="25040" y="0"/>
                  </a:moveTo>
                  <a:lnTo>
                    <a:pt x="789262" y="0"/>
                  </a:lnTo>
                  <a:cubicBezTo>
                    <a:pt x="795903" y="0"/>
                    <a:pt x="802272" y="2638"/>
                    <a:pt x="806968" y="7334"/>
                  </a:cubicBezTo>
                  <a:cubicBezTo>
                    <a:pt x="811664" y="12030"/>
                    <a:pt x="814302" y="18399"/>
                    <a:pt x="814302" y="25040"/>
                  </a:cubicBezTo>
                  <a:lnTo>
                    <a:pt x="814302" y="1233543"/>
                  </a:lnTo>
                  <a:cubicBezTo>
                    <a:pt x="814302" y="1240184"/>
                    <a:pt x="811664" y="1246553"/>
                    <a:pt x="806968" y="1251249"/>
                  </a:cubicBezTo>
                  <a:cubicBezTo>
                    <a:pt x="802272" y="1255945"/>
                    <a:pt x="795903" y="1258583"/>
                    <a:pt x="789262" y="1258583"/>
                  </a:cubicBezTo>
                  <a:lnTo>
                    <a:pt x="25040" y="1258583"/>
                  </a:lnTo>
                  <a:cubicBezTo>
                    <a:pt x="18399" y="1258583"/>
                    <a:pt x="12030" y="1255945"/>
                    <a:pt x="7334" y="1251249"/>
                  </a:cubicBezTo>
                  <a:cubicBezTo>
                    <a:pt x="2638" y="1246553"/>
                    <a:pt x="0" y="1240184"/>
                    <a:pt x="0" y="1233543"/>
                  </a:cubicBezTo>
                  <a:lnTo>
                    <a:pt x="0" y="25040"/>
                  </a:lnTo>
                  <a:cubicBezTo>
                    <a:pt x="0" y="18399"/>
                    <a:pt x="2638" y="12030"/>
                    <a:pt x="7334" y="7334"/>
                  </a:cubicBezTo>
                  <a:cubicBezTo>
                    <a:pt x="12030" y="2638"/>
                    <a:pt x="18399" y="0"/>
                    <a:pt x="25040" y="0"/>
                  </a:cubicBezTo>
                  <a:close/>
                </a:path>
              </a:pathLst>
            </a:custGeom>
            <a:solidFill>
              <a:srgbClr val="38B6FF"/>
            </a:solidFill>
          </p:spPr>
        </p:sp>
        <p:sp>
          <p:nvSpPr>
            <p:cNvPr id="16" name="TextBox 16"/>
            <p:cNvSpPr txBox="1"/>
            <p:nvPr/>
          </p:nvSpPr>
          <p:spPr>
            <a:xfrm>
              <a:off x="0" y="-47625"/>
              <a:ext cx="814302" cy="1306208"/>
            </a:xfrm>
            <a:prstGeom prst="rect">
              <a:avLst/>
            </a:prstGeom>
          </p:spPr>
          <p:txBody>
            <a:bodyPr lIns="50800" tIns="50800" rIns="50800" bIns="50800" rtlCol="0" anchor="ctr"/>
            <a:lstStyle/>
            <a:p>
              <a:pPr algn="l">
                <a:lnSpc>
                  <a:spcPts val="3358"/>
                </a:lnSpc>
              </a:pPr>
              <a:r>
                <a:rPr lang="en-US" sz="2398" b="1" spc="4">
                  <a:solidFill>
                    <a:srgbClr val="000000"/>
                  </a:solidFill>
                  <a:latin typeface="Open Sauce Bold"/>
                  <a:ea typeface="Open Sauce Bold"/>
                  <a:cs typeface="Open Sauce Bold"/>
                  <a:sym typeface="Open Sauce Bold"/>
                </a:rPr>
                <a:t>Canvas Trực quan hóa (Visualization Canvas):</a:t>
              </a:r>
            </a:p>
            <a:p>
              <a:pPr algn="l">
                <a:lnSpc>
                  <a:spcPts val="3358"/>
                </a:lnSpc>
              </a:pPr>
              <a:r>
                <a:rPr lang="en-US" sz="2398" spc="4">
                  <a:solidFill>
                    <a:srgbClr val="000000"/>
                  </a:solidFill>
                  <a:latin typeface="Open Sauce"/>
                  <a:ea typeface="Open Sauce"/>
                  <a:cs typeface="Open Sauce"/>
                  <a:sym typeface="Open Sauce"/>
                </a:rPr>
                <a:t>Khu vực đồ họa nơi các khối bộ nhớ (B1-B5) được lấp đầy linh hoạt bằng dữ liệu tiến trình, lộ diện không gian bị lãng phí.</a:t>
              </a:r>
            </a:p>
          </p:txBody>
        </p:sp>
      </p:grpSp>
      <p:grpSp>
        <p:nvGrpSpPr>
          <p:cNvPr id="17" name="Group 17"/>
          <p:cNvGrpSpPr/>
          <p:nvPr/>
        </p:nvGrpSpPr>
        <p:grpSpPr>
          <a:xfrm>
            <a:off x="11091930" y="8072213"/>
            <a:ext cx="6379853" cy="1773011"/>
            <a:chOff x="0" y="0"/>
            <a:chExt cx="1680290" cy="466966"/>
          </a:xfrm>
        </p:grpSpPr>
        <p:sp>
          <p:nvSpPr>
            <p:cNvPr id="18" name="Freeform 18"/>
            <p:cNvSpPr/>
            <p:nvPr/>
          </p:nvSpPr>
          <p:spPr>
            <a:xfrm>
              <a:off x="0" y="0"/>
              <a:ext cx="1680290" cy="466966"/>
            </a:xfrm>
            <a:custGeom>
              <a:avLst/>
              <a:gdLst/>
              <a:ahLst/>
              <a:cxnLst/>
              <a:rect l="l" t="t" r="r" b="b"/>
              <a:pathLst>
                <a:path w="1680290" h="466966">
                  <a:moveTo>
                    <a:pt x="12135" y="0"/>
                  </a:moveTo>
                  <a:lnTo>
                    <a:pt x="1668156" y="0"/>
                  </a:lnTo>
                  <a:cubicBezTo>
                    <a:pt x="1674857" y="0"/>
                    <a:pt x="1680290" y="5433"/>
                    <a:pt x="1680290" y="12135"/>
                  </a:cubicBezTo>
                  <a:lnTo>
                    <a:pt x="1680290" y="454831"/>
                  </a:lnTo>
                  <a:cubicBezTo>
                    <a:pt x="1680290" y="461533"/>
                    <a:pt x="1674857" y="466966"/>
                    <a:pt x="1668156" y="466966"/>
                  </a:cubicBezTo>
                  <a:lnTo>
                    <a:pt x="12135" y="466966"/>
                  </a:lnTo>
                  <a:cubicBezTo>
                    <a:pt x="5433" y="466966"/>
                    <a:pt x="0" y="461533"/>
                    <a:pt x="0" y="454831"/>
                  </a:cubicBezTo>
                  <a:lnTo>
                    <a:pt x="0" y="12135"/>
                  </a:lnTo>
                  <a:cubicBezTo>
                    <a:pt x="0" y="5433"/>
                    <a:pt x="5433" y="0"/>
                    <a:pt x="12135" y="0"/>
                  </a:cubicBezTo>
                  <a:close/>
                </a:path>
              </a:pathLst>
            </a:custGeom>
            <a:solidFill>
              <a:srgbClr val="38B6FF"/>
            </a:solidFill>
          </p:spPr>
        </p:sp>
        <p:sp>
          <p:nvSpPr>
            <p:cNvPr id="19" name="TextBox 19"/>
            <p:cNvSpPr txBox="1"/>
            <p:nvPr/>
          </p:nvSpPr>
          <p:spPr>
            <a:xfrm>
              <a:off x="0" y="-47625"/>
              <a:ext cx="1680290" cy="514591"/>
            </a:xfrm>
            <a:prstGeom prst="rect">
              <a:avLst/>
            </a:prstGeom>
          </p:spPr>
          <p:txBody>
            <a:bodyPr lIns="50800" tIns="50800" rIns="50800" bIns="50800" rtlCol="0" anchor="ctr"/>
            <a:lstStyle/>
            <a:p>
              <a:pPr algn="l">
                <a:lnSpc>
                  <a:spcPts val="3358"/>
                </a:lnSpc>
              </a:pPr>
              <a:r>
                <a:rPr lang="en-US" sz="2398" b="1" spc="4">
                  <a:solidFill>
                    <a:srgbClr val="000000"/>
                  </a:solidFill>
                  <a:latin typeface="Open Sauce Bold"/>
                  <a:ea typeface="Open Sauce Bold"/>
                  <a:cs typeface="Open Sauce Bold"/>
                  <a:sym typeface="Open Sauce Bold"/>
                </a:rPr>
                <a:t>Bảng xem dữ liệu (Data View Table):</a:t>
              </a:r>
            </a:p>
            <a:p>
              <a:pPr algn="l">
                <a:lnSpc>
                  <a:spcPts val="3358"/>
                </a:lnSpc>
              </a:pPr>
              <a:r>
                <a:rPr lang="en-US" sz="2398" spc="4">
                  <a:solidFill>
                    <a:srgbClr val="000000"/>
                  </a:solidFill>
                  <a:latin typeface="Open Sauce"/>
                  <a:ea typeface="Open Sauce"/>
                  <a:cs typeface="Open Sauce"/>
                  <a:sym typeface="Open Sauce"/>
                </a:rPr>
                <a:t>Sổ cái lịch sử chi tiết từng dòng theo dõi chính xác phân mảnh nội bộ (tính bằng MB) và trạng thái cấp phát.</a:t>
              </a:r>
            </a:p>
          </p:txBody>
        </p:sp>
      </p:grpSp>
      <p:sp>
        <p:nvSpPr>
          <p:cNvPr id="20" name="AutoShape 20"/>
          <p:cNvSpPr/>
          <p:nvPr/>
        </p:nvSpPr>
        <p:spPr>
          <a:xfrm flipV="1">
            <a:off x="9144000" y="1341122"/>
            <a:ext cx="2046053" cy="1658572"/>
          </a:xfrm>
          <a:prstGeom prst="line">
            <a:avLst/>
          </a:prstGeom>
          <a:ln w="38100" cap="flat">
            <a:solidFill>
              <a:srgbClr val="38B6FF"/>
            </a:solidFill>
            <a:prstDash val="solid"/>
            <a:headEnd type="arrow" w="med" len="sm"/>
            <a:tailEnd type="arrow" w="med" len="sm"/>
          </a:ln>
        </p:spPr>
      </p:sp>
      <p:sp>
        <p:nvSpPr>
          <p:cNvPr id="21" name="AutoShape 21"/>
          <p:cNvSpPr/>
          <p:nvPr/>
        </p:nvSpPr>
        <p:spPr>
          <a:xfrm>
            <a:off x="3707186" y="5382178"/>
            <a:ext cx="1140718" cy="0"/>
          </a:xfrm>
          <a:prstGeom prst="line">
            <a:avLst/>
          </a:prstGeom>
          <a:ln w="38100" cap="flat">
            <a:solidFill>
              <a:srgbClr val="38B6FF"/>
            </a:solidFill>
            <a:prstDash val="solid"/>
            <a:headEnd type="arrow" w="med" len="sm"/>
            <a:tailEnd type="arrow" w="med" len="sm"/>
          </a:ln>
        </p:spPr>
      </p:sp>
      <p:sp>
        <p:nvSpPr>
          <p:cNvPr id="22" name="AutoShape 22"/>
          <p:cNvSpPr/>
          <p:nvPr/>
        </p:nvSpPr>
        <p:spPr>
          <a:xfrm>
            <a:off x="13320627" y="3997847"/>
            <a:ext cx="1059352" cy="0"/>
          </a:xfrm>
          <a:prstGeom prst="line">
            <a:avLst/>
          </a:prstGeom>
          <a:ln w="38100" cap="flat">
            <a:solidFill>
              <a:srgbClr val="38B6FF"/>
            </a:solidFill>
            <a:prstDash val="solid"/>
            <a:headEnd type="arrow" w="med" len="sm"/>
            <a:tailEnd type="arrow" w="med" len="sm"/>
          </a:ln>
        </p:spPr>
      </p:sp>
      <p:sp>
        <p:nvSpPr>
          <p:cNvPr id="23" name="AutoShape 23"/>
          <p:cNvSpPr/>
          <p:nvPr/>
        </p:nvSpPr>
        <p:spPr>
          <a:xfrm>
            <a:off x="9144000" y="6833318"/>
            <a:ext cx="1837921" cy="2181556"/>
          </a:xfrm>
          <a:prstGeom prst="line">
            <a:avLst/>
          </a:prstGeom>
          <a:ln w="38100" cap="flat">
            <a:solidFill>
              <a:srgbClr val="38B6FF"/>
            </a:solidFill>
            <a:prstDash val="solid"/>
            <a:headEnd type="arrow" w="med" len="sm"/>
            <a:tailEnd type="arrow" w="med" len="sm"/>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2"/>
            <a:stretch>
              <a:fillRect/>
            </a:stretch>
          </a:blipFill>
        </p:spPr>
      </p:sp>
      <p:sp>
        <p:nvSpPr>
          <p:cNvPr id="3" name="Freeform 3"/>
          <p:cNvSpPr/>
          <p:nvPr/>
        </p:nvSpPr>
        <p:spPr>
          <a:xfrm>
            <a:off x="1043573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3"/>
            <a:stretch>
              <a:fillRect/>
            </a:stretch>
          </a:blipFill>
        </p:spPr>
      </p:sp>
      <p:sp>
        <p:nvSpPr>
          <p:cNvPr id="4" name="Freeform 4"/>
          <p:cNvSpPr/>
          <p:nvPr/>
        </p:nvSpPr>
        <p:spPr>
          <a:xfrm>
            <a:off x="695603" y="420807"/>
            <a:ext cx="557607" cy="557607"/>
          </a:xfrm>
          <a:custGeom>
            <a:avLst/>
            <a:gdLst/>
            <a:ahLst/>
            <a:cxnLst/>
            <a:rect l="l" t="t" r="r" b="b"/>
            <a:pathLst>
              <a:path w="557607" h="557607">
                <a:moveTo>
                  <a:pt x="0" y="0"/>
                </a:moveTo>
                <a:lnTo>
                  <a:pt x="557607" y="0"/>
                </a:lnTo>
                <a:lnTo>
                  <a:pt x="557607" y="557607"/>
                </a:lnTo>
                <a:lnTo>
                  <a:pt x="0" y="557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028700" y="6100445"/>
            <a:ext cx="10131316" cy="3157855"/>
          </a:xfrm>
          <a:custGeom>
            <a:avLst/>
            <a:gdLst/>
            <a:ahLst/>
            <a:cxnLst/>
            <a:rect l="l" t="t" r="r" b="b"/>
            <a:pathLst>
              <a:path w="10131316" h="3157855">
                <a:moveTo>
                  <a:pt x="0" y="0"/>
                </a:moveTo>
                <a:lnTo>
                  <a:pt x="10131316" y="0"/>
                </a:lnTo>
                <a:lnTo>
                  <a:pt x="10131316" y="3157855"/>
                </a:lnTo>
                <a:lnTo>
                  <a:pt x="0" y="3157855"/>
                </a:lnTo>
                <a:lnTo>
                  <a:pt x="0" y="0"/>
                </a:lnTo>
                <a:close/>
              </a:path>
            </a:pathLst>
          </a:custGeom>
          <a:blipFill>
            <a:blip r:embed="rId6"/>
            <a:stretch>
              <a:fillRect l="-3181" r="-29595"/>
            </a:stretch>
          </a:blipFill>
        </p:spPr>
      </p:sp>
      <p:sp>
        <p:nvSpPr>
          <p:cNvPr id="6" name="TextBox 6"/>
          <p:cNvSpPr txBox="1"/>
          <p:nvPr/>
        </p:nvSpPr>
        <p:spPr>
          <a:xfrm>
            <a:off x="1735466" y="397467"/>
            <a:ext cx="4609634" cy="489742"/>
          </a:xfrm>
          <a:prstGeom prst="rect">
            <a:avLst/>
          </a:prstGeom>
        </p:spPr>
        <p:txBody>
          <a:bodyPr lIns="0" tIns="0" rIns="0" bIns="0" rtlCol="0" anchor="t">
            <a:spAutoFit/>
          </a:bodyPr>
          <a:lstStyle/>
          <a:p>
            <a:pPr marL="0" lvl="0" indent="0" algn="l">
              <a:lnSpc>
                <a:spcPts val="3981"/>
              </a:lnSpc>
              <a:spcBef>
                <a:spcPct val="0"/>
              </a:spcBef>
            </a:pPr>
            <a:r>
              <a:rPr lang="en-US" sz="2843" spc="5">
                <a:solidFill>
                  <a:srgbClr val="FFFFFF"/>
                </a:solidFill>
                <a:latin typeface="Open Sauce"/>
                <a:ea typeface="Open Sauce"/>
                <a:cs typeface="Open Sauce"/>
                <a:sym typeface="Open Sauce"/>
              </a:rPr>
              <a:t>Group 9</a:t>
            </a:r>
          </a:p>
        </p:txBody>
      </p:sp>
      <p:sp>
        <p:nvSpPr>
          <p:cNvPr id="7" name="TextBox 7"/>
          <p:cNvSpPr txBox="1"/>
          <p:nvPr/>
        </p:nvSpPr>
        <p:spPr>
          <a:xfrm>
            <a:off x="1028700" y="1745615"/>
            <a:ext cx="9407036" cy="3430905"/>
          </a:xfrm>
          <a:prstGeom prst="rect">
            <a:avLst/>
          </a:prstGeom>
        </p:spPr>
        <p:txBody>
          <a:bodyPr lIns="0" tIns="0" rIns="0" bIns="0" rtlCol="0" anchor="t">
            <a:spAutoFit/>
          </a:bodyPr>
          <a:lstStyle/>
          <a:p>
            <a:pPr algn="l">
              <a:lnSpc>
                <a:spcPts val="4759"/>
              </a:lnSpc>
            </a:pPr>
            <a:r>
              <a:rPr lang="en-US" sz="3399" b="1" spc="6">
                <a:solidFill>
                  <a:srgbClr val="FFFFFF"/>
                </a:solidFill>
                <a:latin typeface="Open Sauce Bold"/>
                <a:ea typeface="Open Sauce Bold"/>
                <a:cs typeface="Open Sauce Bold"/>
                <a:sym typeface="Open Sauce Bold"/>
              </a:rPr>
              <a:t>Thuật toán First-Fit: Tốc độ phải trả giá bằng sự phân mảnh sớm.</a:t>
            </a:r>
          </a:p>
          <a:p>
            <a:pPr algn="l">
              <a:lnSpc>
                <a:spcPts val="4480"/>
              </a:lnSpc>
            </a:pPr>
            <a:endParaRPr lang="en-US" sz="3399" b="1" spc="6">
              <a:solidFill>
                <a:srgbClr val="FFFFFF"/>
              </a:solidFill>
              <a:latin typeface="Open Sauce Bold"/>
              <a:ea typeface="Open Sauce Bold"/>
              <a:cs typeface="Open Sauce Bold"/>
              <a:sym typeface="Open Sauce Bold"/>
            </a:endParaRPr>
          </a:p>
          <a:p>
            <a:pPr marL="690881" lvl="1" indent="-345440" algn="l">
              <a:lnSpc>
                <a:spcPts val="4480"/>
              </a:lnSpc>
              <a:buFont typeface="Arial"/>
              <a:buChar char="•"/>
            </a:pPr>
            <a:r>
              <a:rPr lang="en-US" sz="3200" b="1" spc="6">
                <a:solidFill>
                  <a:srgbClr val="FFFFFF"/>
                </a:solidFill>
                <a:latin typeface="Open Sauce Bold"/>
                <a:ea typeface="Open Sauce Bold"/>
                <a:cs typeface="Open Sauce Bold"/>
                <a:sym typeface="Open Sauce Bold"/>
              </a:rPr>
              <a:t>Cơ chế:</a:t>
            </a:r>
          </a:p>
          <a:p>
            <a:pPr algn="l">
              <a:lnSpc>
                <a:spcPts val="4480"/>
              </a:lnSpc>
            </a:pPr>
            <a:r>
              <a:rPr lang="en-US" sz="3200" spc="6">
                <a:solidFill>
                  <a:srgbClr val="FFFFFF"/>
                </a:solidFill>
                <a:latin typeface="Open Sauce"/>
                <a:ea typeface="Open Sauce"/>
                <a:cs typeface="Open Sauce"/>
                <a:sym typeface="Open Sauce"/>
              </a:rPr>
              <a:t>Thuật toán lấy các khối trống sớm nhất mà không tối ưu hóa theo kích thước.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2"/>
            <a:stretch>
              <a:fillRect/>
            </a:stretch>
          </a:blipFill>
        </p:spPr>
      </p:sp>
      <p:sp>
        <p:nvSpPr>
          <p:cNvPr id="3" name="Freeform 3"/>
          <p:cNvSpPr/>
          <p:nvPr/>
        </p:nvSpPr>
        <p:spPr>
          <a:xfrm>
            <a:off x="1043573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3"/>
            <a:stretch>
              <a:fillRect/>
            </a:stretch>
          </a:blipFill>
        </p:spPr>
      </p:sp>
      <p:sp>
        <p:nvSpPr>
          <p:cNvPr id="4" name="Freeform 4"/>
          <p:cNvSpPr/>
          <p:nvPr/>
        </p:nvSpPr>
        <p:spPr>
          <a:xfrm>
            <a:off x="695603" y="420807"/>
            <a:ext cx="557607" cy="557607"/>
          </a:xfrm>
          <a:custGeom>
            <a:avLst/>
            <a:gdLst/>
            <a:ahLst/>
            <a:cxnLst/>
            <a:rect l="l" t="t" r="r" b="b"/>
            <a:pathLst>
              <a:path w="557607" h="557607">
                <a:moveTo>
                  <a:pt x="0" y="0"/>
                </a:moveTo>
                <a:lnTo>
                  <a:pt x="557607" y="0"/>
                </a:lnTo>
                <a:lnTo>
                  <a:pt x="557607" y="557607"/>
                </a:lnTo>
                <a:lnTo>
                  <a:pt x="0" y="557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735466" y="397467"/>
            <a:ext cx="4609634" cy="489742"/>
          </a:xfrm>
          <a:prstGeom prst="rect">
            <a:avLst/>
          </a:prstGeom>
        </p:spPr>
        <p:txBody>
          <a:bodyPr lIns="0" tIns="0" rIns="0" bIns="0" rtlCol="0" anchor="t">
            <a:spAutoFit/>
          </a:bodyPr>
          <a:lstStyle/>
          <a:p>
            <a:pPr marL="0" lvl="0" indent="0" algn="l">
              <a:lnSpc>
                <a:spcPts val="3981"/>
              </a:lnSpc>
              <a:spcBef>
                <a:spcPct val="0"/>
              </a:spcBef>
            </a:pPr>
            <a:r>
              <a:rPr lang="en-US" sz="2843" spc="5">
                <a:solidFill>
                  <a:srgbClr val="FFFFFF"/>
                </a:solidFill>
                <a:latin typeface="Open Sauce"/>
                <a:ea typeface="Open Sauce"/>
                <a:cs typeface="Open Sauce"/>
                <a:sym typeface="Open Sauce"/>
              </a:rPr>
              <a:t>Group 9</a:t>
            </a:r>
          </a:p>
        </p:txBody>
      </p:sp>
      <p:sp>
        <p:nvSpPr>
          <p:cNvPr id="6" name="TextBox 6"/>
          <p:cNvSpPr txBox="1"/>
          <p:nvPr/>
        </p:nvSpPr>
        <p:spPr>
          <a:xfrm>
            <a:off x="1028700" y="1745615"/>
            <a:ext cx="8115300" cy="1780540"/>
          </a:xfrm>
          <a:prstGeom prst="rect">
            <a:avLst/>
          </a:prstGeom>
        </p:spPr>
        <p:txBody>
          <a:bodyPr lIns="0" tIns="0" rIns="0" bIns="0" rtlCol="0" anchor="t">
            <a:spAutoFit/>
          </a:bodyPr>
          <a:lstStyle/>
          <a:p>
            <a:pPr algn="l">
              <a:lnSpc>
                <a:spcPts val="4759"/>
              </a:lnSpc>
            </a:pPr>
            <a:r>
              <a:rPr lang="en-US" sz="3399" b="1" spc="6">
                <a:solidFill>
                  <a:srgbClr val="FFFFFF"/>
                </a:solidFill>
                <a:latin typeface="Open Sauce Bold"/>
                <a:ea typeface="Open Sauce Bold"/>
                <a:cs typeface="Open Sauce Bold"/>
                <a:sym typeface="Open Sauce Bold"/>
              </a:rPr>
              <a:t>Thuật toán First-Fit: Tốc độ phải trả giá bằng sự phân mảnh sớm.</a:t>
            </a:r>
          </a:p>
          <a:p>
            <a:pPr algn="l">
              <a:lnSpc>
                <a:spcPts val="4759"/>
              </a:lnSpc>
            </a:pPr>
            <a:endParaRPr lang="en-US" sz="3399" b="1" spc="6">
              <a:solidFill>
                <a:srgbClr val="FFFFFF"/>
              </a:solidFill>
              <a:latin typeface="Open Sauce Bold"/>
              <a:ea typeface="Open Sauce Bold"/>
              <a:cs typeface="Open Sauce Bold"/>
              <a:sym typeface="Open Sauce Bold"/>
            </a:endParaRPr>
          </a:p>
        </p:txBody>
      </p:sp>
      <p:sp>
        <p:nvSpPr>
          <p:cNvPr id="7" name="TextBox 7"/>
          <p:cNvSpPr txBox="1"/>
          <p:nvPr/>
        </p:nvSpPr>
        <p:spPr>
          <a:xfrm>
            <a:off x="1025929" y="3469005"/>
            <a:ext cx="4537776" cy="4471670"/>
          </a:xfrm>
          <a:prstGeom prst="rect">
            <a:avLst/>
          </a:prstGeom>
        </p:spPr>
        <p:txBody>
          <a:bodyPr lIns="0" tIns="0" rIns="0" bIns="0" rtlCol="0" anchor="t">
            <a:spAutoFit/>
          </a:bodyPr>
          <a:lstStyle/>
          <a:p>
            <a:pPr algn="l">
              <a:lnSpc>
                <a:spcPts val="4480"/>
              </a:lnSpc>
              <a:spcBef>
                <a:spcPct val="0"/>
              </a:spcBef>
            </a:pPr>
            <a:r>
              <a:rPr lang="en-US" sz="3200" b="1" spc="6">
                <a:solidFill>
                  <a:srgbClr val="FFFFFF"/>
                </a:solidFill>
                <a:latin typeface="Open Sauce Heavy"/>
                <a:ea typeface="Open Sauce Heavy"/>
                <a:cs typeface="Open Sauce Heavy"/>
                <a:sym typeface="Open Sauce Heavy"/>
              </a:rPr>
              <a:t>Kết quả: </a:t>
            </a:r>
          </a:p>
          <a:p>
            <a:pPr algn="l">
              <a:lnSpc>
                <a:spcPts val="4480"/>
              </a:lnSpc>
              <a:spcBef>
                <a:spcPct val="0"/>
              </a:spcBef>
            </a:pPr>
            <a:r>
              <a:rPr lang="en-US" sz="3200" spc="6">
                <a:solidFill>
                  <a:srgbClr val="FFFFFF"/>
                </a:solidFill>
                <a:latin typeface="Open Sauce"/>
                <a:ea typeface="Open Sauce"/>
                <a:cs typeface="Open Sauce"/>
                <a:sym typeface="Open Sauce"/>
              </a:rPr>
              <a:t>Các tiến trình 1, 3 và 2 tìm được "nhà" nhanh chóng. Tuy nhiên, do việc đóng gói các khối đầu không hiệu quả, Tiến trình 4 (426MB) đã gây ra lỗi cấp phát.</a:t>
            </a:r>
          </a:p>
        </p:txBody>
      </p:sp>
      <p:sp>
        <p:nvSpPr>
          <p:cNvPr id="8" name="Freeform 8"/>
          <p:cNvSpPr/>
          <p:nvPr/>
        </p:nvSpPr>
        <p:spPr>
          <a:xfrm>
            <a:off x="6946733" y="3251230"/>
            <a:ext cx="10312567" cy="6007070"/>
          </a:xfrm>
          <a:custGeom>
            <a:avLst/>
            <a:gdLst/>
            <a:ahLst/>
            <a:cxnLst/>
            <a:rect l="l" t="t" r="r" b="b"/>
            <a:pathLst>
              <a:path w="10312567" h="6007070">
                <a:moveTo>
                  <a:pt x="0" y="0"/>
                </a:moveTo>
                <a:lnTo>
                  <a:pt x="10312567" y="0"/>
                </a:lnTo>
                <a:lnTo>
                  <a:pt x="10312567" y="6007070"/>
                </a:lnTo>
                <a:lnTo>
                  <a:pt x="0" y="6007070"/>
                </a:lnTo>
                <a:lnTo>
                  <a:pt x="0" y="0"/>
                </a:lnTo>
                <a:close/>
              </a:path>
            </a:pathLst>
          </a:custGeom>
          <a:blipFill>
            <a:blip r:embed="rId6"/>
            <a:stretch>
              <a:fillRect/>
            </a:stretch>
          </a:blipFill>
        </p:spPr>
      </p:sp>
      <p:sp>
        <p:nvSpPr>
          <p:cNvPr id="9" name="AutoShape 9"/>
          <p:cNvSpPr/>
          <p:nvPr/>
        </p:nvSpPr>
        <p:spPr>
          <a:xfrm>
            <a:off x="12103017" y="2964433"/>
            <a:ext cx="3342178" cy="1854343"/>
          </a:xfrm>
          <a:prstGeom prst="line">
            <a:avLst/>
          </a:prstGeom>
          <a:ln w="38100" cap="flat">
            <a:solidFill>
              <a:srgbClr val="FF3131"/>
            </a:solidFill>
            <a:prstDash val="solid"/>
            <a:headEnd type="none" w="sm" len="sm"/>
            <a:tailEnd type="arrow" w="med" len="sm"/>
          </a:ln>
        </p:spPr>
      </p:sp>
      <p:sp>
        <p:nvSpPr>
          <p:cNvPr id="10" name="AutoShape 10"/>
          <p:cNvSpPr/>
          <p:nvPr/>
        </p:nvSpPr>
        <p:spPr>
          <a:xfrm>
            <a:off x="16340991" y="5379017"/>
            <a:ext cx="0" cy="2173768"/>
          </a:xfrm>
          <a:prstGeom prst="line">
            <a:avLst/>
          </a:prstGeom>
          <a:ln w="38100" cap="flat">
            <a:solidFill>
              <a:srgbClr val="FF3131"/>
            </a:solidFill>
            <a:prstDash val="solid"/>
            <a:headEnd type="none" w="sm" len="sm"/>
            <a:tailEnd type="arrow" w="med" len="sm"/>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2"/>
            <a:stretch>
              <a:fillRect/>
            </a:stretch>
          </a:blipFill>
        </p:spPr>
      </p:sp>
      <p:sp>
        <p:nvSpPr>
          <p:cNvPr id="3" name="Freeform 3"/>
          <p:cNvSpPr/>
          <p:nvPr/>
        </p:nvSpPr>
        <p:spPr>
          <a:xfrm>
            <a:off x="1043573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3"/>
            <a:stretch>
              <a:fillRect/>
            </a:stretch>
          </a:blipFill>
        </p:spPr>
      </p:sp>
      <p:sp>
        <p:nvSpPr>
          <p:cNvPr id="4" name="Freeform 4"/>
          <p:cNvSpPr/>
          <p:nvPr/>
        </p:nvSpPr>
        <p:spPr>
          <a:xfrm>
            <a:off x="695603" y="420807"/>
            <a:ext cx="557607" cy="557607"/>
          </a:xfrm>
          <a:custGeom>
            <a:avLst/>
            <a:gdLst/>
            <a:ahLst/>
            <a:cxnLst/>
            <a:rect l="l" t="t" r="r" b="b"/>
            <a:pathLst>
              <a:path w="557607" h="557607">
                <a:moveTo>
                  <a:pt x="0" y="0"/>
                </a:moveTo>
                <a:lnTo>
                  <a:pt x="557607" y="0"/>
                </a:lnTo>
                <a:lnTo>
                  <a:pt x="557607" y="557607"/>
                </a:lnTo>
                <a:lnTo>
                  <a:pt x="0" y="557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9144000" y="3108675"/>
            <a:ext cx="8630742" cy="4069650"/>
          </a:xfrm>
          <a:custGeom>
            <a:avLst/>
            <a:gdLst/>
            <a:ahLst/>
            <a:cxnLst/>
            <a:rect l="l" t="t" r="r" b="b"/>
            <a:pathLst>
              <a:path w="8630742" h="4069650">
                <a:moveTo>
                  <a:pt x="0" y="0"/>
                </a:moveTo>
                <a:lnTo>
                  <a:pt x="8630742" y="0"/>
                </a:lnTo>
                <a:lnTo>
                  <a:pt x="8630742" y="4069650"/>
                </a:lnTo>
                <a:lnTo>
                  <a:pt x="0" y="4069650"/>
                </a:lnTo>
                <a:lnTo>
                  <a:pt x="0" y="0"/>
                </a:lnTo>
                <a:close/>
              </a:path>
            </a:pathLst>
          </a:custGeom>
          <a:blipFill>
            <a:blip r:embed="rId6"/>
            <a:stretch>
              <a:fillRect t="-801" r="-32632" b="-801"/>
            </a:stretch>
          </a:blipFill>
        </p:spPr>
      </p:sp>
      <p:sp>
        <p:nvSpPr>
          <p:cNvPr id="6" name="TextBox 6"/>
          <p:cNvSpPr txBox="1"/>
          <p:nvPr/>
        </p:nvSpPr>
        <p:spPr>
          <a:xfrm>
            <a:off x="1735466" y="397467"/>
            <a:ext cx="4609634" cy="489742"/>
          </a:xfrm>
          <a:prstGeom prst="rect">
            <a:avLst/>
          </a:prstGeom>
        </p:spPr>
        <p:txBody>
          <a:bodyPr lIns="0" tIns="0" rIns="0" bIns="0" rtlCol="0" anchor="t">
            <a:spAutoFit/>
          </a:bodyPr>
          <a:lstStyle/>
          <a:p>
            <a:pPr marL="0" lvl="0" indent="0" algn="l">
              <a:lnSpc>
                <a:spcPts val="3981"/>
              </a:lnSpc>
              <a:spcBef>
                <a:spcPct val="0"/>
              </a:spcBef>
            </a:pPr>
            <a:r>
              <a:rPr lang="en-US" sz="2843" spc="5">
                <a:solidFill>
                  <a:srgbClr val="FFFFFF"/>
                </a:solidFill>
                <a:latin typeface="Open Sauce"/>
                <a:ea typeface="Open Sauce"/>
                <a:cs typeface="Open Sauce"/>
                <a:sym typeface="Open Sauce"/>
              </a:rPr>
              <a:t>Group 9</a:t>
            </a:r>
          </a:p>
        </p:txBody>
      </p:sp>
      <p:sp>
        <p:nvSpPr>
          <p:cNvPr id="7" name="TextBox 7"/>
          <p:cNvSpPr txBox="1"/>
          <p:nvPr/>
        </p:nvSpPr>
        <p:spPr>
          <a:xfrm>
            <a:off x="1028700" y="1745615"/>
            <a:ext cx="8115300" cy="4030980"/>
          </a:xfrm>
          <a:prstGeom prst="rect">
            <a:avLst/>
          </a:prstGeom>
        </p:spPr>
        <p:txBody>
          <a:bodyPr lIns="0" tIns="0" rIns="0" bIns="0" rtlCol="0" anchor="t">
            <a:spAutoFit/>
          </a:bodyPr>
          <a:lstStyle/>
          <a:p>
            <a:pPr algn="l">
              <a:lnSpc>
                <a:spcPts val="4759"/>
              </a:lnSpc>
            </a:pPr>
            <a:r>
              <a:rPr lang="en-US" sz="3399" b="1" spc="6">
                <a:solidFill>
                  <a:srgbClr val="FFFFFF"/>
                </a:solidFill>
                <a:latin typeface="Open Sauce Bold"/>
                <a:ea typeface="Open Sauce Bold"/>
                <a:cs typeface="Open Sauce Bold"/>
                <a:sym typeface="Open Sauce Bold"/>
              </a:rPr>
              <a:t>Thuật toán Best-Fit: Đạt tỷ lệ cấp phát 100% nhờ đóng gói chặt chẽ</a:t>
            </a:r>
          </a:p>
          <a:p>
            <a:pPr algn="l">
              <a:lnSpc>
                <a:spcPts val="4759"/>
              </a:lnSpc>
            </a:pPr>
            <a:endParaRPr lang="en-US" sz="3399" b="1" spc="6">
              <a:solidFill>
                <a:srgbClr val="FFFFFF"/>
              </a:solidFill>
              <a:latin typeface="Open Sauce Bold"/>
              <a:ea typeface="Open Sauce Bold"/>
              <a:cs typeface="Open Sauce Bold"/>
              <a:sym typeface="Open Sauce Bold"/>
            </a:endParaRPr>
          </a:p>
          <a:p>
            <a:pPr marL="690881" lvl="1" indent="-345440" algn="l">
              <a:lnSpc>
                <a:spcPts val="4480"/>
              </a:lnSpc>
              <a:buFont typeface="Arial"/>
              <a:buChar char="•"/>
            </a:pPr>
            <a:r>
              <a:rPr lang="en-US" sz="3200" b="1" spc="6">
                <a:solidFill>
                  <a:srgbClr val="FFFFFF"/>
                </a:solidFill>
                <a:latin typeface="Open Sauce Bold"/>
                <a:ea typeface="Open Sauce Bold"/>
                <a:cs typeface="Open Sauce Bold"/>
                <a:sym typeface="Open Sauce Bold"/>
              </a:rPr>
              <a:t>Cơ chế:</a:t>
            </a:r>
          </a:p>
          <a:p>
            <a:pPr algn="l">
              <a:lnSpc>
                <a:spcPts val="4480"/>
              </a:lnSpc>
            </a:pPr>
            <a:r>
              <a:rPr lang="en-US" sz="3200" spc="6">
                <a:solidFill>
                  <a:srgbClr val="FFFFFF"/>
                </a:solidFill>
                <a:latin typeface="Open Sauce"/>
                <a:ea typeface="Open Sauce"/>
                <a:cs typeface="Open Sauce"/>
                <a:sym typeface="Open Sauce"/>
              </a:rPr>
              <a:t>Thuật toán tìm kiếm triệt để sự phù hợp chặt chẽ nhất có thể nhằm bảo tồn các khối lớn hơn cho các tiến trình tương lai.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2"/>
            <a:stretch>
              <a:fillRect/>
            </a:stretch>
          </a:blipFill>
        </p:spPr>
      </p:sp>
      <p:sp>
        <p:nvSpPr>
          <p:cNvPr id="3" name="Freeform 3"/>
          <p:cNvSpPr/>
          <p:nvPr/>
        </p:nvSpPr>
        <p:spPr>
          <a:xfrm>
            <a:off x="1043573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3"/>
            <a:stretch>
              <a:fillRect/>
            </a:stretch>
          </a:blipFill>
        </p:spPr>
      </p:sp>
      <p:sp>
        <p:nvSpPr>
          <p:cNvPr id="4" name="Freeform 4"/>
          <p:cNvSpPr/>
          <p:nvPr/>
        </p:nvSpPr>
        <p:spPr>
          <a:xfrm>
            <a:off x="695603" y="420807"/>
            <a:ext cx="557607" cy="557607"/>
          </a:xfrm>
          <a:custGeom>
            <a:avLst/>
            <a:gdLst/>
            <a:ahLst/>
            <a:cxnLst/>
            <a:rect l="l" t="t" r="r" b="b"/>
            <a:pathLst>
              <a:path w="557607" h="557607">
                <a:moveTo>
                  <a:pt x="0" y="0"/>
                </a:moveTo>
                <a:lnTo>
                  <a:pt x="557607" y="0"/>
                </a:lnTo>
                <a:lnTo>
                  <a:pt x="557607" y="557607"/>
                </a:lnTo>
                <a:lnTo>
                  <a:pt x="0" y="557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7166905" y="3347388"/>
            <a:ext cx="10235345" cy="5910912"/>
          </a:xfrm>
          <a:custGeom>
            <a:avLst/>
            <a:gdLst/>
            <a:ahLst/>
            <a:cxnLst/>
            <a:rect l="l" t="t" r="r" b="b"/>
            <a:pathLst>
              <a:path w="10235345" h="5910912">
                <a:moveTo>
                  <a:pt x="0" y="0"/>
                </a:moveTo>
                <a:lnTo>
                  <a:pt x="10235345" y="0"/>
                </a:lnTo>
                <a:lnTo>
                  <a:pt x="10235345" y="5910912"/>
                </a:lnTo>
                <a:lnTo>
                  <a:pt x="0" y="5910912"/>
                </a:lnTo>
                <a:lnTo>
                  <a:pt x="0" y="0"/>
                </a:lnTo>
                <a:close/>
              </a:path>
            </a:pathLst>
          </a:custGeom>
          <a:blipFill>
            <a:blip r:embed="rId6"/>
            <a:stretch>
              <a:fillRect/>
            </a:stretch>
          </a:blipFill>
        </p:spPr>
      </p:sp>
      <p:grpSp>
        <p:nvGrpSpPr>
          <p:cNvPr id="6" name="Group 6"/>
          <p:cNvGrpSpPr/>
          <p:nvPr/>
        </p:nvGrpSpPr>
        <p:grpSpPr>
          <a:xfrm>
            <a:off x="15479521" y="6302844"/>
            <a:ext cx="909327" cy="1515379"/>
            <a:chOff x="0" y="0"/>
            <a:chExt cx="502822" cy="837945"/>
          </a:xfrm>
        </p:grpSpPr>
        <p:sp>
          <p:nvSpPr>
            <p:cNvPr id="7" name="Freeform 7"/>
            <p:cNvSpPr/>
            <p:nvPr/>
          </p:nvSpPr>
          <p:spPr>
            <a:xfrm>
              <a:off x="0" y="0"/>
              <a:ext cx="502822" cy="837945"/>
            </a:xfrm>
            <a:custGeom>
              <a:avLst/>
              <a:gdLst/>
              <a:ahLst/>
              <a:cxnLst/>
              <a:rect l="l" t="t" r="r" b="b"/>
              <a:pathLst>
                <a:path w="502822" h="837945">
                  <a:moveTo>
                    <a:pt x="251411" y="0"/>
                  </a:moveTo>
                  <a:cubicBezTo>
                    <a:pt x="112560" y="0"/>
                    <a:pt x="0" y="187580"/>
                    <a:pt x="0" y="418972"/>
                  </a:cubicBezTo>
                  <a:cubicBezTo>
                    <a:pt x="0" y="650364"/>
                    <a:pt x="112560" y="837945"/>
                    <a:pt x="251411" y="837945"/>
                  </a:cubicBezTo>
                  <a:cubicBezTo>
                    <a:pt x="390261" y="837945"/>
                    <a:pt x="502822" y="650364"/>
                    <a:pt x="502822" y="418972"/>
                  </a:cubicBezTo>
                  <a:cubicBezTo>
                    <a:pt x="502822" y="187580"/>
                    <a:pt x="390261" y="0"/>
                    <a:pt x="251411" y="0"/>
                  </a:cubicBezTo>
                  <a:close/>
                </a:path>
              </a:pathLst>
            </a:custGeom>
            <a:ln w="38100" cap="sq">
              <a:solidFill>
                <a:srgbClr val="00BF63"/>
              </a:solidFill>
              <a:prstDash val="solid"/>
              <a:miter/>
            </a:ln>
          </p:spPr>
        </p:sp>
        <p:sp>
          <p:nvSpPr>
            <p:cNvPr id="8" name="TextBox 8"/>
            <p:cNvSpPr txBox="1"/>
            <p:nvPr/>
          </p:nvSpPr>
          <p:spPr>
            <a:xfrm>
              <a:off x="47140" y="49982"/>
              <a:ext cx="408543" cy="709405"/>
            </a:xfrm>
            <a:prstGeom prst="rect">
              <a:avLst/>
            </a:prstGeom>
          </p:spPr>
          <p:txBody>
            <a:bodyPr lIns="50800" tIns="50800" rIns="50800" bIns="50800" rtlCol="0" anchor="ctr"/>
            <a:lstStyle/>
            <a:p>
              <a:pPr algn="ctr">
                <a:lnSpc>
                  <a:spcPts val="2378"/>
                </a:lnSpc>
              </a:pPr>
              <a:endParaRPr/>
            </a:p>
          </p:txBody>
        </p:sp>
      </p:grpSp>
      <p:sp>
        <p:nvSpPr>
          <p:cNvPr id="9" name="TextBox 9"/>
          <p:cNvSpPr txBox="1"/>
          <p:nvPr/>
        </p:nvSpPr>
        <p:spPr>
          <a:xfrm>
            <a:off x="1735466" y="397467"/>
            <a:ext cx="4609634" cy="489742"/>
          </a:xfrm>
          <a:prstGeom prst="rect">
            <a:avLst/>
          </a:prstGeom>
        </p:spPr>
        <p:txBody>
          <a:bodyPr lIns="0" tIns="0" rIns="0" bIns="0" rtlCol="0" anchor="t">
            <a:spAutoFit/>
          </a:bodyPr>
          <a:lstStyle/>
          <a:p>
            <a:pPr marL="0" lvl="0" indent="0" algn="l">
              <a:lnSpc>
                <a:spcPts val="3981"/>
              </a:lnSpc>
              <a:spcBef>
                <a:spcPct val="0"/>
              </a:spcBef>
            </a:pPr>
            <a:r>
              <a:rPr lang="en-US" sz="2843" spc="5">
                <a:solidFill>
                  <a:srgbClr val="FFFFFF"/>
                </a:solidFill>
                <a:latin typeface="Open Sauce"/>
                <a:ea typeface="Open Sauce"/>
                <a:cs typeface="Open Sauce"/>
                <a:sym typeface="Open Sauce"/>
              </a:rPr>
              <a:t>Group 9</a:t>
            </a:r>
          </a:p>
        </p:txBody>
      </p:sp>
      <p:sp>
        <p:nvSpPr>
          <p:cNvPr id="10" name="TextBox 10"/>
          <p:cNvSpPr txBox="1"/>
          <p:nvPr/>
        </p:nvSpPr>
        <p:spPr>
          <a:xfrm>
            <a:off x="1028700" y="1745615"/>
            <a:ext cx="8115300" cy="1744980"/>
          </a:xfrm>
          <a:prstGeom prst="rect">
            <a:avLst/>
          </a:prstGeom>
        </p:spPr>
        <p:txBody>
          <a:bodyPr lIns="0" tIns="0" rIns="0" bIns="0" rtlCol="0" anchor="t">
            <a:spAutoFit/>
          </a:bodyPr>
          <a:lstStyle/>
          <a:p>
            <a:pPr algn="l">
              <a:lnSpc>
                <a:spcPts val="4759"/>
              </a:lnSpc>
            </a:pPr>
            <a:r>
              <a:rPr lang="en-US" sz="3399" b="1" spc="6">
                <a:solidFill>
                  <a:srgbClr val="FFFFFF"/>
                </a:solidFill>
                <a:latin typeface="Open Sauce Bold"/>
                <a:ea typeface="Open Sauce Bold"/>
                <a:cs typeface="Open Sauce Bold"/>
                <a:sym typeface="Open Sauce Bold"/>
              </a:rPr>
              <a:t>Thuật toán Best-Fit: Đạt tỷ lệ cấp phát 100% nhờ đóng gói chặt chẽ</a:t>
            </a:r>
          </a:p>
          <a:p>
            <a:pPr algn="l">
              <a:lnSpc>
                <a:spcPts val="4480"/>
              </a:lnSpc>
            </a:pPr>
            <a:endParaRPr lang="en-US" sz="3399" b="1" spc="6">
              <a:solidFill>
                <a:srgbClr val="FFFFFF"/>
              </a:solidFill>
              <a:latin typeface="Open Sauce Bold"/>
              <a:ea typeface="Open Sauce Bold"/>
              <a:cs typeface="Open Sauce Bold"/>
              <a:sym typeface="Open Sauce Bold"/>
            </a:endParaRPr>
          </a:p>
        </p:txBody>
      </p:sp>
      <p:sp>
        <p:nvSpPr>
          <p:cNvPr id="11" name="TextBox 11"/>
          <p:cNvSpPr txBox="1"/>
          <p:nvPr/>
        </p:nvSpPr>
        <p:spPr>
          <a:xfrm>
            <a:off x="974406" y="3433445"/>
            <a:ext cx="5523166" cy="5033645"/>
          </a:xfrm>
          <a:prstGeom prst="rect">
            <a:avLst/>
          </a:prstGeom>
        </p:spPr>
        <p:txBody>
          <a:bodyPr lIns="0" tIns="0" rIns="0" bIns="0" rtlCol="0" anchor="t">
            <a:spAutoFit/>
          </a:bodyPr>
          <a:lstStyle/>
          <a:p>
            <a:pPr algn="l">
              <a:lnSpc>
                <a:spcPts val="4480"/>
              </a:lnSpc>
              <a:spcBef>
                <a:spcPct val="0"/>
              </a:spcBef>
            </a:pPr>
            <a:r>
              <a:rPr lang="en-US" sz="3200" b="1" spc="6">
                <a:solidFill>
                  <a:srgbClr val="FFFFFF"/>
                </a:solidFill>
                <a:latin typeface="Open Sauce Bold"/>
                <a:ea typeface="Open Sauce Bold"/>
                <a:cs typeface="Open Sauce Bold"/>
                <a:sym typeface="Open Sauce Bold"/>
              </a:rPr>
              <a:t>Kết quả:</a:t>
            </a:r>
          </a:p>
          <a:p>
            <a:pPr algn="l">
              <a:lnSpc>
                <a:spcPts val="4480"/>
              </a:lnSpc>
              <a:spcBef>
                <a:spcPct val="0"/>
              </a:spcBef>
            </a:pPr>
            <a:r>
              <a:rPr lang="en-US" sz="3200" spc="6">
                <a:solidFill>
                  <a:srgbClr val="FFFFFF"/>
                </a:solidFill>
                <a:latin typeface="Open Sauce"/>
                <a:ea typeface="Open Sauce"/>
                <a:cs typeface="Open Sauce"/>
                <a:sym typeface="Open Sauce"/>
              </a:rPr>
              <a:t>Cấp phát hoàn hảo. Khác với First-Fit, Best-Fit đã chứa thành công Tiến trình 4 vào Khối 5.</a:t>
            </a:r>
          </a:p>
          <a:p>
            <a:pPr algn="l">
              <a:lnSpc>
                <a:spcPts val="4480"/>
              </a:lnSpc>
              <a:spcBef>
                <a:spcPct val="0"/>
              </a:spcBef>
            </a:pPr>
            <a:r>
              <a:rPr lang="en-US" sz="3200" b="1" spc="6">
                <a:solidFill>
                  <a:srgbClr val="FFFFFF"/>
                </a:solidFill>
                <a:latin typeface="Open Sauce Bold"/>
                <a:ea typeface="Open Sauce Bold"/>
                <a:cs typeface="Open Sauce Bold"/>
                <a:sym typeface="Open Sauce Bold"/>
              </a:rPr>
              <a:t>Đánh đổi: </a:t>
            </a:r>
          </a:p>
          <a:p>
            <a:pPr algn="l">
              <a:lnSpc>
                <a:spcPts val="4480"/>
              </a:lnSpc>
              <a:spcBef>
                <a:spcPct val="0"/>
              </a:spcBef>
            </a:pPr>
            <a:r>
              <a:rPr lang="en-US" sz="3200" spc="6">
                <a:solidFill>
                  <a:srgbClr val="FFFFFF"/>
                </a:solidFill>
                <a:latin typeface="Open Sauce"/>
                <a:ea typeface="Open Sauce"/>
                <a:cs typeface="Open Sauce"/>
                <a:sym typeface="Open Sauce"/>
              </a:rPr>
              <a:t>Tạo ra các khoảng trống nhỏ, không thể sử dụng trong các khối.</a:t>
            </a:r>
          </a:p>
        </p:txBody>
      </p:sp>
      <p:sp>
        <p:nvSpPr>
          <p:cNvPr id="12" name="AutoShape 12"/>
          <p:cNvSpPr/>
          <p:nvPr/>
        </p:nvSpPr>
        <p:spPr>
          <a:xfrm flipV="1">
            <a:off x="14079673" y="7532189"/>
            <a:ext cx="1498657" cy="1292918"/>
          </a:xfrm>
          <a:prstGeom prst="line">
            <a:avLst/>
          </a:prstGeom>
          <a:ln w="95250" cap="flat">
            <a:solidFill>
              <a:srgbClr val="0097B2"/>
            </a:solidFill>
            <a:prstDash val="solid"/>
            <a:headEnd type="none" w="sm" len="sm"/>
            <a:tailEnd type="arrow" w="med" len="sm"/>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2"/>
            <a:stretch>
              <a:fillRect/>
            </a:stretch>
          </a:blipFill>
        </p:spPr>
      </p:sp>
      <p:sp>
        <p:nvSpPr>
          <p:cNvPr id="3" name="Freeform 3"/>
          <p:cNvSpPr/>
          <p:nvPr/>
        </p:nvSpPr>
        <p:spPr>
          <a:xfrm>
            <a:off x="1043573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3"/>
            <a:stretch>
              <a:fillRect/>
            </a:stretch>
          </a:blipFill>
        </p:spPr>
      </p:sp>
      <p:sp>
        <p:nvSpPr>
          <p:cNvPr id="4" name="Freeform 4"/>
          <p:cNvSpPr/>
          <p:nvPr/>
        </p:nvSpPr>
        <p:spPr>
          <a:xfrm>
            <a:off x="695603" y="420807"/>
            <a:ext cx="557607" cy="557607"/>
          </a:xfrm>
          <a:custGeom>
            <a:avLst/>
            <a:gdLst/>
            <a:ahLst/>
            <a:cxnLst/>
            <a:rect l="l" t="t" r="r" b="b"/>
            <a:pathLst>
              <a:path w="557607" h="557607">
                <a:moveTo>
                  <a:pt x="0" y="0"/>
                </a:moveTo>
                <a:lnTo>
                  <a:pt x="557607" y="0"/>
                </a:lnTo>
                <a:lnTo>
                  <a:pt x="557607" y="557607"/>
                </a:lnTo>
                <a:lnTo>
                  <a:pt x="0" y="557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028700" y="5966110"/>
            <a:ext cx="8115300" cy="3701162"/>
          </a:xfrm>
          <a:custGeom>
            <a:avLst/>
            <a:gdLst/>
            <a:ahLst/>
            <a:cxnLst/>
            <a:rect l="l" t="t" r="r" b="b"/>
            <a:pathLst>
              <a:path w="8115300" h="3701162">
                <a:moveTo>
                  <a:pt x="0" y="0"/>
                </a:moveTo>
                <a:lnTo>
                  <a:pt x="8115300" y="0"/>
                </a:lnTo>
                <a:lnTo>
                  <a:pt x="8115300" y="3701162"/>
                </a:lnTo>
                <a:lnTo>
                  <a:pt x="0" y="3701162"/>
                </a:lnTo>
                <a:lnTo>
                  <a:pt x="0" y="0"/>
                </a:lnTo>
                <a:close/>
              </a:path>
            </a:pathLst>
          </a:custGeom>
          <a:blipFill>
            <a:blip r:embed="rId6"/>
            <a:stretch>
              <a:fillRect r="-39258"/>
            </a:stretch>
          </a:blipFill>
        </p:spPr>
      </p:sp>
      <p:sp>
        <p:nvSpPr>
          <p:cNvPr id="6" name="TextBox 6"/>
          <p:cNvSpPr txBox="1"/>
          <p:nvPr/>
        </p:nvSpPr>
        <p:spPr>
          <a:xfrm>
            <a:off x="1735466" y="397467"/>
            <a:ext cx="4609634" cy="489742"/>
          </a:xfrm>
          <a:prstGeom prst="rect">
            <a:avLst/>
          </a:prstGeom>
        </p:spPr>
        <p:txBody>
          <a:bodyPr lIns="0" tIns="0" rIns="0" bIns="0" rtlCol="0" anchor="t">
            <a:spAutoFit/>
          </a:bodyPr>
          <a:lstStyle/>
          <a:p>
            <a:pPr marL="0" lvl="0" indent="0" algn="l">
              <a:lnSpc>
                <a:spcPts val="3981"/>
              </a:lnSpc>
              <a:spcBef>
                <a:spcPct val="0"/>
              </a:spcBef>
            </a:pPr>
            <a:r>
              <a:rPr lang="en-US" sz="2843" spc="5">
                <a:solidFill>
                  <a:srgbClr val="FFFFFF"/>
                </a:solidFill>
                <a:latin typeface="Open Sauce"/>
                <a:ea typeface="Open Sauce"/>
                <a:cs typeface="Open Sauce"/>
                <a:sym typeface="Open Sauce"/>
              </a:rPr>
              <a:t>Group 9</a:t>
            </a:r>
          </a:p>
        </p:txBody>
      </p:sp>
      <p:sp>
        <p:nvSpPr>
          <p:cNvPr id="7" name="TextBox 7"/>
          <p:cNvSpPr txBox="1"/>
          <p:nvPr/>
        </p:nvSpPr>
        <p:spPr>
          <a:xfrm>
            <a:off x="1028700" y="1745615"/>
            <a:ext cx="8115300" cy="4030980"/>
          </a:xfrm>
          <a:prstGeom prst="rect">
            <a:avLst/>
          </a:prstGeom>
        </p:spPr>
        <p:txBody>
          <a:bodyPr lIns="0" tIns="0" rIns="0" bIns="0" rtlCol="0" anchor="t">
            <a:spAutoFit/>
          </a:bodyPr>
          <a:lstStyle/>
          <a:p>
            <a:pPr algn="l">
              <a:lnSpc>
                <a:spcPts val="4759"/>
              </a:lnSpc>
            </a:pPr>
            <a:r>
              <a:rPr lang="en-US" sz="3399" b="1" spc="6">
                <a:solidFill>
                  <a:srgbClr val="FFFFFF"/>
                </a:solidFill>
                <a:latin typeface="Open Sauce Bold"/>
                <a:ea typeface="Open Sauce Bold"/>
                <a:cs typeface="Open Sauce Bold"/>
                <a:sym typeface="Open Sauce Bold"/>
              </a:rPr>
              <a:t>Thuật toán Worst-Fit: Tối đa hóa không gian dư thừa.</a:t>
            </a:r>
          </a:p>
          <a:p>
            <a:pPr algn="l">
              <a:lnSpc>
                <a:spcPts val="4759"/>
              </a:lnSpc>
            </a:pPr>
            <a:endParaRPr lang="en-US" sz="3399" b="1" spc="6">
              <a:solidFill>
                <a:srgbClr val="FFFFFF"/>
              </a:solidFill>
              <a:latin typeface="Open Sauce Bold"/>
              <a:ea typeface="Open Sauce Bold"/>
              <a:cs typeface="Open Sauce Bold"/>
              <a:sym typeface="Open Sauce Bold"/>
            </a:endParaRPr>
          </a:p>
          <a:p>
            <a:pPr marL="690881" lvl="1" indent="-345440" algn="l">
              <a:lnSpc>
                <a:spcPts val="4480"/>
              </a:lnSpc>
              <a:buFont typeface="Arial"/>
              <a:buChar char="•"/>
            </a:pPr>
            <a:r>
              <a:rPr lang="en-US" sz="3200" b="1" spc="6">
                <a:solidFill>
                  <a:srgbClr val="FFFFFF"/>
                </a:solidFill>
                <a:latin typeface="Open Sauce Bold"/>
                <a:ea typeface="Open Sauce Bold"/>
                <a:cs typeface="Open Sauce Bold"/>
                <a:sym typeface="Open Sauce Bold"/>
              </a:rPr>
              <a:t>Cơ chế: </a:t>
            </a:r>
          </a:p>
          <a:p>
            <a:pPr algn="l">
              <a:lnSpc>
                <a:spcPts val="4480"/>
              </a:lnSpc>
            </a:pPr>
            <a:r>
              <a:rPr lang="en-US" sz="3200" spc="6">
                <a:solidFill>
                  <a:srgbClr val="FFFFFF"/>
                </a:solidFill>
                <a:latin typeface="Open Sauce"/>
                <a:ea typeface="Open Sauce"/>
                <a:cs typeface="Open Sauce"/>
                <a:sym typeface="Open Sauce"/>
              </a:rPr>
              <a:t>Nhắm mục tiêu vào khối bộ nhớ lớn nhất tuyệt đối, cố tình để lại phần dư lớn nhất có thể cho việc sử dụng sau này.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2"/>
            <a:stretch>
              <a:fillRect/>
            </a:stretch>
          </a:blipFill>
        </p:spPr>
      </p:sp>
      <p:sp>
        <p:nvSpPr>
          <p:cNvPr id="3" name="Freeform 3"/>
          <p:cNvSpPr/>
          <p:nvPr/>
        </p:nvSpPr>
        <p:spPr>
          <a:xfrm>
            <a:off x="1043573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3"/>
            <a:stretch>
              <a:fillRect/>
            </a:stretch>
          </a:blipFill>
        </p:spPr>
      </p:sp>
      <p:sp>
        <p:nvSpPr>
          <p:cNvPr id="4" name="Freeform 4"/>
          <p:cNvSpPr/>
          <p:nvPr/>
        </p:nvSpPr>
        <p:spPr>
          <a:xfrm>
            <a:off x="695603" y="420807"/>
            <a:ext cx="557607" cy="557607"/>
          </a:xfrm>
          <a:custGeom>
            <a:avLst/>
            <a:gdLst/>
            <a:ahLst/>
            <a:cxnLst/>
            <a:rect l="l" t="t" r="r" b="b"/>
            <a:pathLst>
              <a:path w="557607" h="557607">
                <a:moveTo>
                  <a:pt x="0" y="0"/>
                </a:moveTo>
                <a:lnTo>
                  <a:pt x="557607" y="0"/>
                </a:lnTo>
                <a:lnTo>
                  <a:pt x="557607" y="557607"/>
                </a:lnTo>
                <a:lnTo>
                  <a:pt x="0" y="557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7117301" y="3490595"/>
            <a:ext cx="10141999" cy="5666842"/>
          </a:xfrm>
          <a:custGeom>
            <a:avLst/>
            <a:gdLst/>
            <a:ahLst/>
            <a:cxnLst/>
            <a:rect l="l" t="t" r="r" b="b"/>
            <a:pathLst>
              <a:path w="10141999" h="5666842">
                <a:moveTo>
                  <a:pt x="0" y="0"/>
                </a:moveTo>
                <a:lnTo>
                  <a:pt x="10141999" y="0"/>
                </a:lnTo>
                <a:lnTo>
                  <a:pt x="10141999" y="5666842"/>
                </a:lnTo>
                <a:lnTo>
                  <a:pt x="0" y="5666842"/>
                </a:lnTo>
                <a:lnTo>
                  <a:pt x="0" y="0"/>
                </a:lnTo>
                <a:close/>
              </a:path>
            </a:pathLst>
          </a:custGeom>
          <a:blipFill>
            <a:blip r:embed="rId6"/>
            <a:stretch>
              <a:fillRect/>
            </a:stretch>
          </a:blipFill>
        </p:spPr>
      </p:sp>
      <p:grpSp>
        <p:nvGrpSpPr>
          <p:cNvPr id="6" name="Group 6"/>
          <p:cNvGrpSpPr/>
          <p:nvPr/>
        </p:nvGrpSpPr>
        <p:grpSpPr>
          <a:xfrm>
            <a:off x="15087178" y="4669194"/>
            <a:ext cx="1796582" cy="1094121"/>
            <a:chOff x="0" y="0"/>
            <a:chExt cx="613911" cy="373873"/>
          </a:xfrm>
        </p:grpSpPr>
        <p:sp>
          <p:nvSpPr>
            <p:cNvPr id="7" name="Freeform 7"/>
            <p:cNvSpPr/>
            <p:nvPr/>
          </p:nvSpPr>
          <p:spPr>
            <a:xfrm>
              <a:off x="0" y="0"/>
              <a:ext cx="613911" cy="373873"/>
            </a:xfrm>
            <a:custGeom>
              <a:avLst/>
              <a:gdLst/>
              <a:ahLst/>
              <a:cxnLst/>
              <a:rect l="l" t="t" r="r" b="b"/>
              <a:pathLst>
                <a:path w="613911" h="373873">
                  <a:moveTo>
                    <a:pt x="613911" y="43092"/>
                  </a:moveTo>
                  <a:lnTo>
                    <a:pt x="613911" y="330780"/>
                  </a:lnTo>
                  <a:cubicBezTo>
                    <a:pt x="613911" y="354580"/>
                    <a:pt x="594618" y="373873"/>
                    <a:pt x="570819" y="373873"/>
                  </a:cubicBezTo>
                  <a:lnTo>
                    <a:pt x="43092" y="373873"/>
                  </a:lnTo>
                  <a:cubicBezTo>
                    <a:pt x="19293" y="373873"/>
                    <a:pt x="0" y="354580"/>
                    <a:pt x="0" y="330780"/>
                  </a:cubicBezTo>
                  <a:lnTo>
                    <a:pt x="0" y="43092"/>
                  </a:lnTo>
                  <a:cubicBezTo>
                    <a:pt x="0" y="19293"/>
                    <a:pt x="19293" y="0"/>
                    <a:pt x="43092" y="0"/>
                  </a:cubicBezTo>
                  <a:lnTo>
                    <a:pt x="570819" y="0"/>
                  </a:lnTo>
                  <a:cubicBezTo>
                    <a:pt x="594618" y="0"/>
                    <a:pt x="613911" y="19293"/>
                    <a:pt x="613911" y="43092"/>
                  </a:cubicBezTo>
                  <a:close/>
                </a:path>
              </a:pathLst>
            </a:custGeom>
            <a:ln w="38100" cap="sq">
              <a:solidFill>
                <a:srgbClr val="38B6FF"/>
              </a:solidFill>
              <a:prstDash val="solid"/>
              <a:miter/>
            </a:ln>
          </p:spPr>
        </p:sp>
        <p:sp>
          <p:nvSpPr>
            <p:cNvPr id="8" name="TextBox 8"/>
            <p:cNvSpPr txBox="1"/>
            <p:nvPr/>
          </p:nvSpPr>
          <p:spPr>
            <a:xfrm>
              <a:off x="0" y="-28575"/>
              <a:ext cx="613911" cy="402448"/>
            </a:xfrm>
            <a:prstGeom prst="rect">
              <a:avLst/>
            </a:prstGeom>
          </p:spPr>
          <p:txBody>
            <a:bodyPr lIns="50800" tIns="50800" rIns="50800" bIns="50800" rtlCol="0" anchor="ctr"/>
            <a:lstStyle/>
            <a:p>
              <a:pPr algn="ctr">
                <a:lnSpc>
                  <a:spcPts val="2378"/>
                </a:lnSpc>
              </a:pPr>
              <a:endParaRPr/>
            </a:p>
          </p:txBody>
        </p:sp>
      </p:grpSp>
      <p:sp>
        <p:nvSpPr>
          <p:cNvPr id="9" name="TextBox 9"/>
          <p:cNvSpPr txBox="1"/>
          <p:nvPr/>
        </p:nvSpPr>
        <p:spPr>
          <a:xfrm>
            <a:off x="1735466" y="397467"/>
            <a:ext cx="4609634" cy="489742"/>
          </a:xfrm>
          <a:prstGeom prst="rect">
            <a:avLst/>
          </a:prstGeom>
        </p:spPr>
        <p:txBody>
          <a:bodyPr lIns="0" tIns="0" rIns="0" bIns="0" rtlCol="0" anchor="t">
            <a:spAutoFit/>
          </a:bodyPr>
          <a:lstStyle/>
          <a:p>
            <a:pPr marL="0" lvl="0" indent="0" algn="l">
              <a:lnSpc>
                <a:spcPts val="3981"/>
              </a:lnSpc>
              <a:spcBef>
                <a:spcPct val="0"/>
              </a:spcBef>
            </a:pPr>
            <a:r>
              <a:rPr lang="en-US" sz="2843" spc="5">
                <a:solidFill>
                  <a:srgbClr val="FFFFFF"/>
                </a:solidFill>
                <a:latin typeface="Open Sauce"/>
                <a:ea typeface="Open Sauce"/>
                <a:cs typeface="Open Sauce"/>
                <a:sym typeface="Open Sauce"/>
              </a:rPr>
              <a:t>Group 9</a:t>
            </a:r>
          </a:p>
        </p:txBody>
      </p:sp>
      <p:sp>
        <p:nvSpPr>
          <p:cNvPr id="10" name="TextBox 10"/>
          <p:cNvSpPr txBox="1"/>
          <p:nvPr/>
        </p:nvSpPr>
        <p:spPr>
          <a:xfrm>
            <a:off x="1028700" y="1745615"/>
            <a:ext cx="8115300" cy="1780540"/>
          </a:xfrm>
          <a:prstGeom prst="rect">
            <a:avLst/>
          </a:prstGeom>
        </p:spPr>
        <p:txBody>
          <a:bodyPr lIns="0" tIns="0" rIns="0" bIns="0" rtlCol="0" anchor="t">
            <a:spAutoFit/>
          </a:bodyPr>
          <a:lstStyle/>
          <a:p>
            <a:pPr algn="l">
              <a:lnSpc>
                <a:spcPts val="4759"/>
              </a:lnSpc>
            </a:pPr>
            <a:r>
              <a:rPr lang="en-US" sz="3399" b="1" spc="6">
                <a:solidFill>
                  <a:srgbClr val="FFFFFF"/>
                </a:solidFill>
                <a:latin typeface="Open Sauce Bold"/>
                <a:ea typeface="Open Sauce Bold"/>
                <a:cs typeface="Open Sauce Bold"/>
                <a:sym typeface="Open Sauce Bold"/>
              </a:rPr>
              <a:t>Thuật toán Worst-Fit: Tối đa hóa không gian dư thừa.</a:t>
            </a:r>
          </a:p>
          <a:p>
            <a:pPr algn="l">
              <a:lnSpc>
                <a:spcPts val="4759"/>
              </a:lnSpc>
            </a:pPr>
            <a:endParaRPr lang="en-US" sz="3399" b="1" spc="6">
              <a:solidFill>
                <a:srgbClr val="FFFFFF"/>
              </a:solidFill>
              <a:latin typeface="Open Sauce Bold"/>
              <a:ea typeface="Open Sauce Bold"/>
              <a:cs typeface="Open Sauce Bold"/>
              <a:sym typeface="Open Sauce Bold"/>
            </a:endParaRPr>
          </a:p>
        </p:txBody>
      </p:sp>
      <p:sp>
        <p:nvSpPr>
          <p:cNvPr id="11" name="TextBox 11"/>
          <p:cNvSpPr txBox="1"/>
          <p:nvPr/>
        </p:nvSpPr>
        <p:spPr>
          <a:xfrm>
            <a:off x="974406" y="3433445"/>
            <a:ext cx="5523166" cy="4471670"/>
          </a:xfrm>
          <a:prstGeom prst="rect">
            <a:avLst/>
          </a:prstGeom>
        </p:spPr>
        <p:txBody>
          <a:bodyPr lIns="0" tIns="0" rIns="0" bIns="0" rtlCol="0" anchor="t">
            <a:spAutoFit/>
          </a:bodyPr>
          <a:lstStyle/>
          <a:p>
            <a:pPr marL="690881" lvl="1" indent="-345440" algn="l">
              <a:lnSpc>
                <a:spcPts val="4480"/>
              </a:lnSpc>
              <a:spcBef>
                <a:spcPct val="0"/>
              </a:spcBef>
              <a:buFont typeface="Arial"/>
              <a:buChar char="•"/>
            </a:pPr>
            <a:r>
              <a:rPr lang="en-US" sz="3200" b="1" spc="6">
                <a:solidFill>
                  <a:srgbClr val="FFFFFF"/>
                </a:solidFill>
                <a:latin typeface="Open Sauce Bold"/>
                <a:ea typeface="Open Sauce Bold"/>
                <a:cs typeface="Open Sauce Bold"/>
                <a:sym typeface="Open Sauce Bold"/>
              </a:rPr>
              <a:t>Kết quả: </a:t>
            </a:r>
          </a:p>
          <a:p>
            <a:pPr algn="l">
              <a:lnSpc>
                <a:spcPts val="4480"/>
              </a:lnSpc>
              <a:spcBef>
                <a:spcPct val="0"/>
              </a:spcBef>
            </a:pPr>
            <a:r>
              <a:rPr lang="en-US" sz="3200" spc="6">
                <a:solidFill>
                  <a:srgbClr val="FFFFFF"/>
                </a:solidFill>
                <a:latin typeface="Open Sauce"/>
                <a:ea typeface="Open Sauce"/>
                <a:cs typeface="Open Sauce"/>
                <a:sym typeface="Open Sauce"/>
              </a:rPr>
              <a:t>Mặc dù phân bổ P2, P3 và P1 qua các khối rộng nhất, nó nhanh chóng làm cạn kiệt khả năng chịu tải nặng của hệ thống, cuối cùng thất bại khi cấp phát cho Tiến trình 4 (426MB).</a:t>
            </a:r>
          </a:p>
        </p:txBody>
      </p:sp>
      <p:sp>
        <p:nvSpPr>
          <p:cNvPr id="12" name="AutoShape 12"/>
          <p:cNvSpPr/>
          <p:nvPr/>
        </p:nvSpPr>
        <p:spPr>
          <a:xfrm flipH="1">
            <a:off x="14768452" y="5763315"/>
            <a:ext cx="1217017" cy="1112882"/>
          </a:xfrm>
          <a:prstGeom prst="line">
            <a:avLst/>
          </a:prstGeom>
          <a:ln w="38100" cap="flat">
            <a:solidFill>
              <a:srgbClr val="38B6FF"/>
            </a:solidFill>
            <a:prstDash val="solid"/>
            <a:headEnd type="none" w="sm" len="sm"/>
            <a:tailEnd type="arrow" w="med" len="sm"/>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2"/>
            <a:stretch>
              <a:fillRect/>
            </a:stretch>
          </a:blipFill>
        </p:spPr>
      </p:sp>
      <p:sp>
        <p:nvSpPr>
          <p:cNvPr id="3" name="Freeform 3"/>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3"/>
            <a:stretch>
              <a:fillRect/>
            </a:stretch>
          </a:blipFill>
        </p:spPr>
      </p:sp>
      <p:sp>
        <p:nvSpPr>
          <p:cNvPr id="4" name="Freeform 4"/>
          <p:cNvSpPr/>
          <p:nvPr/>
        </p:nvSpPr>
        <p:spPr>
          <a:xfrm>
            <a:off x="695603" y="420807"/>
            <a:ext cx="557607" cy="557607"/>
          </a:xfrm>
          <a:custGeom>
            <a:avLst/>
            <a:gdLst/>
            <a:ahLst/>
            <a:cxnLst/>
            <a:rect l="l" t="t" r="r" b="b"/>
            <a:pathLst>
              <a:path w="557607" h="557607">
                <a:moveTo>
                  <a:pt x="0" y="0"/>
                </a:moveTo>
                <a:lnTo>
                  <a:pt x="557607" y="0"/>
                </a:lnTo>
                <a:lnTo>
                  <a:pt x="557607" y="557607"/>
                </a:lnTo>
                <a:lnTo>
                  <a:pt x="0" y="557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aphicFrame>
        <p:nvGraphicFramePr>
          <p:cNvPr id="5" name="Table 5"/>
          <p:cNvGraphicFramePr>
            <a:graphicFrameLocks noGrp="1"/>
          </p:cNvGraphicFramePr>
          <p:nvPr/>
        </p:nvGraphicFramePr>
        <p:xfrm>
          <a:off x="1903987" y="1979904"/>
          <a:ext cx="14480026" cy="7096126"/>
        </p:xfrm>
        <a:graphic>
          <a:graphicData uri="http://schemas.openxmlformats.org/drawingml/2006/table">
            <a:tbl>
              <a:tblPr/>
              <a:tblGrid>
                <a:gridCol w="3723327">
                  <a:extLst>
                    <a:ext uri="{9D8B030D-6E8A-4147-A177-3AD203B41FA5}">
                      <a16:colId xmlns:a16="http://schemas.microsoft.com/office/drawing/2014/main" val="20000"/>
                    </a:ext>
                  </a:extLst>
                </a:gridCol>
                <a:gridCol w="3272151">
                  <a:extLst>
                    <a:ext uri="{9D8B030D-6E8A-4147-A177-3AD203B41FA5}">
                      <a16:colId xmlns:a16="http://schemas.microsoft.com/office/drawing/2014/main" val="20001"/>
                    </a:ext>
                  </a:extLst>
                </a:gridCol>
                <a:gridCol w="3551525">
                  <a:extLst>
                    <a:ext uri="{9D8B030D-6E8A-4147-A177-3AD203B41FA5}">
                      <a16:colId xmlns:a16="http://schemas.microsoft.com/office/drawing/2014/main" val="20002"/>
                    </a:ext>
                  </a:extLst>
                </a:gridCol>
                <a:gridCol w="3933023">
                  <a:extLst>
                    <a:ext uri="{9D8B030D-6E8A-4147-A177-3AD203B41FA5}">
                      <a16:colId xmlns:a16="http://schemas.microsoft.com/office/drawing/2014/main" val="20003"/>
                    </a:ext>
                  </a:extLst>
                </a:gridCol>
              </a:tblGrid>
              <a:tr h="890607">
                <a:tc>
                  <a:txBody>
                    <a:bodyPr/>
                    <a:lstStyle/>
                    <a:p>
                      <a:pPr algn="ctr">
                        <a:lnSpc>
                          <a:spcPts val="3498"/>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8"/>
                        </a:lnSpc>
                        <a:defRPr/>
                      </a:pPr>
                      <a:r>
                        <a:rPr lang="en-US" sz="2498" b="1">
                          <a:solidFill>
                            <a:srgbClr val="FFFFFF"/>
                          </a:solidFill>
                          <a:latin typeface="Open Sauce Bold"/>
                          <a:ea typeface="Open Sauce Bold"/>
                          <a:cs typeface="Open Sauce Bold"/>
                          <a:sym typeface="Open Sauce Bold"/>
                        </a:rPr>
                        <a:t>First-Fit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8"/>
                        </a:lnSpc>
                        <a:defRPr/>
                      </a:pPr>
                      <a:r>
                        <a:rPr lang="en-US" sz="2498" b="1">
                          <a:solidFill>
                            <a:srgbClr val="FFFFFF"/>
                          </a:solidFill>
                          <a:latin typeface="Open Sauce Bold"/>
                          <a:ea typeface="Open Sauce Bold"/>
                          <a:cs typeface="Open Sauce Bold"/>
                          <a:sym typeface="Open Sauce Bold"/>
                        </a:rPr>
                        <a:t>Best-Fit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8"/>
                        </a:lnSpc>
                        <a:defRPr/>
                      </a:pPr>
                      <a:r>
                        <a:rPr lang="en-US" sz="2498" b="1">
                          <a:solidFill>
                            <a:srgbClr val="FFFFFF"/>
                          </a:solidFill>
                          <a:latin typeface="Open Sauce Bold"/>
                          <a:ea typeface="Open Sauce Bold"/>
                          <a:cs typeface="Open Sauce Bold"/>
                          <a:sym typeface="Open Sauce Bold"/>
                        </a:rPr>
                        <a:t>Worst-Fit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1771637">
                <a:tc>
                  <a:txBody>
                    <a:bodyPr/>
                    <a:lstStyle/>
                    <a:p>
                      <a:pPr algn="ctr">
                        <a:lnSpc>
                          <a:spcPts val="3498"/>
                        </a:lnSpc>
                        <a:defRPr/>
                      </a:pPr>
                      <a:r>
                        <a:rPr lang="en-US" sz="2498" b="1">
                          <a:solidFill>
                            <a:srgbClr val="FFFFFF"/>
                          </a:solidFill>
                          <a:latin typeface="Open Sauce Bold"/>
                          <a:ea typeface="Open Sauce Bold"/>
                          <a:cs typeface="Open Sauce Bold"/>
                          <a:sym typeface="Open Sauce Bold"/>
                        </a:rPr>
                        <a:t>Logic cốt lõi</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8"/>
                        </a:lnSpc>
                        <a:defRPr/>
                      </a:pPr>
                      <a:r>
                        <a:rPr lang="en-US" sz="2498" b="1">
                          <a:solidFill>
                            <a:srgbClr val="FFFFFF"/>
                          </a:solidFill>
                          <a:latin typeface="Open Sauce Bold"/>
                          <a:ea typeface="Open Sauce Bold"/>
                          <a:cs typeface="Open Sauce Bold"/>
                          <a:sym typeface="Open Sauce Bold"/>
                        </a:rPr>
                        <a:t>Quét từ đầu, chọn khối đầu tiên đủ lớn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8"/>
                        </a:lnSpc>
                        <a:defRPr/>
                      </a:pPr>
                      <a:r>
                        <a:rPr lang="en-US" sz="2498" b="1">
                          <a:solidFill>
                            <a:srgbClr val="FFFFFF"/>
                          </a:solidFill>
                          <a:latin typeface="Open Sauce Bold"/>
                          <a:ea typeface="Open Sauce Bold"/>
                          <a:cs typeface="Open Sauce Bold"/>
                          <a:sym typeface="Open Sauce Bold"/>
                        </a:rPr>
                        <a:t>Quét toàn bộ để tìm khối nhỏ nhất vừa đủ</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8"/>
                        </a:lnSpc>
                        <a:defRPr/>
                      </a:pPr>
                      <a:r>
                        <a:rPr lang="en-US" sz="2498" b="1">
                          <a:solidFill>
                            <a:srgbClr val="FFFFFF"/>
                          </a:solidFill>
                          <a:latin typeface="Open Sauce Bold"/>
                          <a:ea typeface="Open Sauce Bold"/>
                          <a:cs typeface="Open Sauce Bold"/>
                          <a:sym typeface="Open Sauce Bold"/>
                        </a:rPr>
                        <a:t>Cố tình cấp phát vào khối lớn nhất hiện có</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890607">
                <a:tc>
                  <a:txBody>
                    <a:bodyPr/>
                    <a:lstStyle/>
                    <a:p>
                      <a:pPr algn="ctr">
                        <a:lnSpc>
                          <a:spcPts val="3498"/>
                        </a:lnSpc>
                        <a:defRPr/>
                      </a:pPr>
                      <a:r>
                        <a:rPr lang="en-US" sz="2498">
                          <a:solidFill>
                            <a:srgbClr val="FFFFFF"/>
                          </a:solidFill>
                          <a:latin typeface="Open Sauce"/>
                          <a:ea typeface="Open Sauce"/>
                          <a:cs typeface="Open Sauce"/>
                          <a:sym typeface="Open Sauce"/>
                        </a:rPr>
                        <a:t>Tốc độ</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8"/>
                        </a:lnSpc>
                        <a:defRPr/>
                      </a:pPr>
                      <a:r>
                        <a:rPr lang="en-US" sz="2498">
                          <a:solidFill>
                            <a:srgbClr val="00BF63"/>
                          </a:solidFill>
                          <a:latin typeface="Open Sauce"/>
                          <a:ea typeface="Open Sauce"/>
                          <a:cs typeface="Open Sauce"/>
                          <a:sym typeface="Open Sauce"/>
                        </a:rPr>
                        <a:t>Nhanh</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8"/>
                        </a:lnSpc>
                        <a:defRPr/>
                      </a:pPr>
                      <a:r>
                        <a:rPr lang="en-US" sz="2498">
                          <a:solidFill>
                            <a:srgbClr val="FF3131"/>
                          </a:solidFill>
                          <a:latin typeface="Open Sauce"/>
                          <a:ea typeface="Open Sauce"/>
                          <a:cs typeface="Open Sauce"/>
                          <a:sym typeface="Open Sauce"/>
                        </a:rPr>
                        <a:t>Chậm</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8"/>
                        </a:lnSpc>
                        <a:defRPr/>
                      </a:pPr>
                      <a:r>
                        <a:rPr lang="en-US" sz="2498">
                          <a:solidFill>
                            <a:srgbClr val="0097B2"/>
                          </a:solidFill>
                          <a:latin typeface="Open Sauce"/>
                          <a:ea typeface="Open Sauce"/>
                          <a:cs typeface="Open Sauce"/>
                          <a:sym typeface="Open Sauce"/>
                        </a:rPr>
                        <a:t>Trung bình</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890607">
                <a:tc>
                  <a:txBody>
                    <a:bodyPr/>
                    <a:lstStyle/>
                    <a:p>
                      <a:pPr algn="ctr">
                        <a:lnSpc>
                          <a:spcPts val="3498"/>
                        </a:lnSpc>
                        <a:defRPr/>
                      </a:pPr>
                      <a:r>
                        <a:rPr lang="en-US" sz="2498">
                          <a:solidFill>
                            <a:srgbClr val="FFFFFF"/>
                          </a:solidFill>
                          <a:latin typeface="Open Sauce"/>
                          <a:ea typeface="Open Sauce"/>
                          <a:cs typeface="Open Sauce"/>
                          <a:sym typeface="Open Sauce"/>
                        </a:rPr>
                        <a:t>Hiệu suất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8"/>
                        </a:lnSpc>
                        <a:defRPr/>
                      </a:pPr>
                      <a:r>
                        <a:rPr lang="en-US" sz="2498">
                          <a:solidFill>
                            <a:srgbClr val="0097B2"/>
                          </a:solidFill>
                          <a:latin typeface="Open Sauce"/>
                          <a:ea typeface="Open Sauce"/>
                          <a:cs typeface="Open Sauce"/>
                          <a:sym typeface="Open Sauce"/>
                        </a:rPr>
                        <a:t>Trung bình</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8"/>
                        </a:lnSpc>
                        <a:defRPr/>
                      </a:pPr>
                      <a:r>
                        <a:rPr lang="en-US" sz="2498">
                          <a:solidFill>
                            <a:srgbClr val="00BF63"/>
                          </a:solidFill>
                          <a:latin typeface="Open Sauce"/>
                          <a:ea typeface="Open Sauce"/>
                          <a:cs typeface="Open Sauce"/>
                          <a:sym typeface="Open Sauce"/>
                        </a:rPr>
                        <a:t>Tối ưu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8"/>
                        </a:lnSpc>
                        <a:defRPr/>
                      </a:pPr>
                      <a:r>
                        <a:rPr lang="en-US" sz="2498">
                          <a:solidFill>
                            <a:srgbClr val="FF3131"/>
                          </a:solidFill>
                          <a:latin typeface="Open Sauce"/>
                          <a:ea typeface="Open Sauce"/>
                          <a:cs typeface="Open Sauce"/>
                          <a:sym typeface="Open Sauce"/>
                        </a:rPr>
                        <a:t>Thấp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2652668">
                <a:tc>
                  <a:txBody>
                    <a:bodyPr/>
                    <a:lstStyle/>
                    <a:p>
                      <a:pPr algn="ctr">
                        <a:lnSpc>
                          <a:spcPts val="3498"/>
                        </a:lnSpc>
                        <a:defRPr/>
                      </a:pPr>
                      <a:r>
                        <a:rPr lang="en-US" sz="2498">
                          <a:solidFill>
                            <a:srgbClr val="FFFFFF"/>
                          </a:solidFill>
                          <a:latin typeface="Open Sauce"/>
                          <a:ea typeface="Open Sauce"/>
                          <a:cs typeface="Open Sauce"/>
                          <a:sym typeface="Open Sauce"/>
                        </a:rPr>
                        <a:t>Hồ sơ phân mảnh</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8"/>
                        </a:lnSpc>
                        <a:defRPr/>
                      </a:pPr>
                      <a:r>
                        <a:rPr lang="en-US" sz="2498">
                          <a:solidFill>
                            <a:srgbClr val="FFFFFF"/>
                          </a:solidFill>
                          <a:latin typeface="Open Sauce"/>
                          <a:ea typeface="Open Sauce"/>
                          <a:cs typeface="Open Sauce"/>
                          <a:sym typeface="Open Sauce"/>
                        </a:rPr>
                        <a:t>Lãng phí nhiều ở phần đầu bộ nhớ</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8"/>
                        </a:lnSpc>
                        <a:defRPr/>
                      </a:pPr>
                      <a:r>
                        <a:rPr lang="en-US" sz="2498">
                          <a:solidFill>
                            <a:srgbClr val="FFFFFF"/>
                          </a:solidFill>
                          <a:latin typeface="Open Sauce"/>
                          <a:ea typeface="Open Sauce"/>
                          <a:cs typeface="Open Sauce"/>
                          <a:sym typeface="Open Sauce"/>
                        </a:rPr>
                        <a:t>Tạo ra các khoảng trống siêu nhỏ không thể sử dụng</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8"/>
                        </a:lnSpc>
                        <a:defRPr/>
                      </a:pPr>
                      <a:r>
                        <a:rPr lang="en-US" sz="2498">
                          <a:solidFill>
                            <a:srgbClr val="FFFFFF"/>
                          </a:solidFill>
                          <a:latin typeface="Open Sauce"/>
                          <a:ea typeface="Open Sauce"/>
                          <a:cs typeface="Open Sauce"/>
                          <a:sym typeface="Open Sauce"/>
                        </a:rPr>
                        <a:t>Giữ lại các phần dư thừa lớn hơn nhưng nhanh chóng làm cạn kiệt các khối</a:t>
                      </a:r>
                      <a:endParaRPr lang="en-US" sz="1100"/>
                    </a:p>
                    <a:p>
                      <a:pPr algn="ctr">
                        <a:lnSpc>
                          <a:spcPts val="3498"/>
                        </a:lnSpc>
                      </a:pPr>
                      <a:r>
                        <a:rPr lang="en-US" sz="2498">
                          <a:solidFill>
                            <a:srgbClr val="FFFFFF"/>
                          </a:solidFill>
                          <a:latin typeface="Open Sauce"/>
                          <a:ea typeface="Open Sauce"/>
                          <a:cs typeface="Open Sauce"/>
                          <a:sym typeface="Open Sauce"/>
                        </a:rPr>
                        <a:t>  bộ nhớ chính  </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Box 6"/>
          <p:cNvSpPr txBox="1"/>
          <p:nvPr/>
        </p:nvSpPr>
        <p:spPr>
          <a:xfrm>
            <a:off x="1735466" y="397467"/>
            <a:ext cx="4609634" cy="489742"/>
          </a:xfrm>
          <a:prstGeom prst="rect">
            <a:avLst/>
          </a:prstGeom>
        </p:spPr>
        <p:txBody>
          <a:bodyPr lIns="0" tIns="0" rIns="0" bIns="0" rtlCol="0" anchor="t">
            <a:spAutoFit/>
          </a:bodyPr>
          <a:lstStyle/>
          <a:p>
            <a:pPr marL="0" lvl="0" indent="0" algn="l">
              <a:lnSpc>
                <a:spcPts val="3981"/>
              </a:lnSpc>
              <a:spcBef>
                <a:spcPct val="0"/>
              </a:spcBef>
            </a:pPr>
            <a:r>
              <a:rPr lang="en-US" sz="2843" spc="5">
                <a:solidFill>
                  <a:srgbClr val="FFFFFF"/>
                </a:solidFill>
                <a:latin typeface="Open Sauce"/>
                <a:ea typeface="Open Sauce"/>
                <a:cs typeface="Open Sauce"/>
                <a:sym typeface="Open Sauce"/>
              </a:rPr>
              <a:t>Group 9</a:t>
            </a:r>
          </a:p>
        </p:txBody>
      </p:sp>
      <p:sp>
        <p:nvSpPr>
          <p:cNvPr id="7" name="TextBox 7"/>
          <p:cNvSpPr txBox="1"/>
          <p:nvPr/>
        </p:nvSpPr>
        <p:spPr>
          <a:xfrm>
            <a:off x="1903987" y="1144296"/>
            <a:ext cx="9229317" cy="596931"/>
          </a:xfrm>
          <a:prstGeom prst="rect">
            <a:avLst/>
          </a:prstGeom>
        </p:spPr>
        <p:txBody>
          <a:bodyPr lIns="0" tIns="0" rIns="0" bIns="0" rtlCol="0" anchor="t">
            <a:spAutoFit/>
          </a:bodyPr>
          <a:lstStyle/>
          <a:p>
            <a:pPr algn="ctr">
              <a:lnSpc>
                <a:spcPts val="4898"/>
              </a:lnSpc>
              <a:spcBef>
                <a:spcPct val="0"/>
              </a:spcBef>
            </a:pPr>
            <a:r>
              <a:rPr lang="en-US" sz="3498" b="1" spc="6">
                <a:solidFill>
                  <a:srgbClr val="FFFFFF"/>
                </a:solidFill>
                <a:latin typeface="Open Sauce Bold"/>
                <a:ea typeface="Open Sauce Bold"/>
                <a:cs typeface="Open Sauce Bold"/>
                <a:sym typeface="Open Sauce Bold"/>
              </a:rPr>
              <a:t>So sánh các chiến lược cấp phát liên tục: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2"/>
            <a:stretch>
              <a:fillRect/>
            </a:stretch>
          </a:blipFill>
        </p:spPr>
      </p:sp>
      <p:sp>
        <p:nvSpPr>
          <p:cNvPr id="3" name="Freeform 3"/>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3"/>
            <a:stretch>
              <a:fillRect/>
            </a:stretch>
          </a:blipFill>
        </p:spPr>
      </p:sp>
      <p:sp>
        <p:nvSpPr>
          <p:cNvPr id="4" name="Freeform 4"/>
          <p:cNvSpPr/>
          <p:nvPr/>
        </p:nvSpPr>
        <p:spPr>
          <a:xfrm>
            <a:off x="695603" y="420807"/>
            <a:ext cx="557607" cy="557607"/>
          </a:xfrm>
          <a:custGeom>
            <a:avLst/>
            <a:gdLst/>
            <a:ahLst/>
            <a:cxnLst/>
            <a:rect l="l" t="t" r="r" b="b"/>
            <a:pathLst>
              <a:path w="557607" h="557607">
                <a:moveTo>
                  <a:pt x="0" y="0"/>
                </a:moveTo>
                <a:lnTo>
                  <a:pt x="557607" y="0"/>
                </a:lnTo>
                <a:lnTo>
                  <a:pt x="557607" y="557607"/>
                </a:lnTo>
                <a:lnTo>
                  <a:pt x="0" y="557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028700" y="1582694"/>
            <a:ext cx="16230600" cy="6323965"/>
          </a:xfrm>
          <a:prstGeom prst="rect">
            <a:avLst/>
          </a:prstGeom>
        </p:spPr>
        <p:txBody>
          <a:bodyPr lIns="0" tIns="0" rIns="0" bIns="0" rtlCol="0" anchor="t">
            <a:spAutoFit/>
          </a:bodyPr>
          <a:lstStyle/>
          <a:p>
            <a:pPr algn="l">
              <a:lnSpc>
                <a:spcPts val="5039"/>
              </a:lnSpc>
            </a:pPr>
            <a:r>
              <a:rPr lang="en-US" sz="3599" b="1" spc="118">
                <a:solidFill>
                  <a:srgbClr val="FFFFFF"/>
                </a:solidFill>
                <a:latin typeface="Open Sauce Bold"/>
                <a:ea typeface="Open Sauce Bold"/>
                <a:cs typeface="Open Sauce Bold"/>
                <a:sym typeface="Open Sauce Bold"/>
              </a:rPr>
              <a:t>Memory Visualizer &amp; Input UI</a:t>
            </a:r>
          </a:p>
          <a:p>
            <a:pPr algn="l">
              <a:lnSpc>
                <a:spcPts val="4759"/>
              </a:lnSpc>
            </a:pPr>
            <a:endParaRPr lang="en-US" sz="3599" b="1" spc="118">
              <a:solidFill>
                <a:srgbClr val="FFFFFF"/>
              </a:solidFill>
              <a:latin typeface="Open Sauce Bold"/>
              <a:ea typeface="Open Sauce Bold"/>
              <a:cs typeface="Open Sauce Bold"/>
              <a:sym typeface="Open Sauce Bold"/>
            </a:endParaRPr>
          </a:p>
          <a:p>
            <a:pPr marL="734059" lvl="1" indent="-367030" algn="l">
              <a:lnSpc>
                <a:spcPts val="4759"/>
              </a:lnSpc>
              <a:buFont typeface="Arial"/>
              <a:buChar char="•"/>
            </a:pPr>
            <a:r>
              <a:rPr lang="en-US" sz="3399" b="1" spc="112">
                <a:solidFill>
                  <a:srgbClr val="FFFFFF"/>
                </a:solidFill>
                <a:latin typeface="Open Sauce Bold"/>
                <a:ea typeface="Open Sauce Bold"/>
                <a:cs typeface="Open Sauce Bold"/>
                <a:sym typeface="Open Sauce Bold"/>
              </a:rPr>
              <a:t>Nền tảng Kỹ thuật &amp; Luồng xử lý:</a:t>
            </a:r>
          </a:p>
          <a:p>
            <a:pPr marL="1381761" lvl="2" indent="-460587" algn="l">
              <a:lnSpc>
                <a:spcPts val="4480"/>
              </a:lnSpc>
              <a:buFont typeface="Arial"/>
              <a:buChar char="⚬"/>
            </a:pPr>
            <a:r>
              <a:rPr lang="en-US" sz="3200" b="1" spc="105">
                <a:solidFill>
                  <a:srgbClr val="FFFFFF"/>
                </a:solidFill>
                <a:latin typeface="Open Sauce Bold"/>
                <a:ea typeface="Open Sauce Bold"/>
                <a:cs typeface="Open Sauce Bold"/>
                <a:sym typeface="Open Sauce Bold"/>
              </a:rPr>
              <a:t>Giao diện (GUI):</a:t>
            </a:r>
            <a:r>
              <a:rPr lang="en-US" sz="3200" spc="105">
                <a:solidFill>
                  <a:srgbClr val="FFFFFF"/>
                </a:solidFill>
                <a:latin typeface="Open Sauce"/>
                <a:ea typeface="Open Sauce"/>
                <a:cs typeface="Open Sauce"/>
                <a:sym typeface="Open Sauce"/>
              </a:rPr>
              <a:t> Xây dựng bằng CustomTkinter (Modern Dark Mode), tối ưu hóa trải nghiệm thị giác.</a:t>
            </a:r>
          </a:p>
          <a:p>
            <a:pPr marL="1381761" lvl="2" indent="-460587" algn="l">
              <a:lnSpc>
                <a:spcPts val="4480"/>
              </a:lnSpc>
              <a:buFont typeface="Arial"/>
              <a:buChar char="⚬"/>
            </a:pPr>
            <a:r>
              <a:rPr lang="en-US" sz="3200" b="1" spc="105">
                <a:solidFill>
                  <a:srgbClr val="FFFFFF"/>
                </a:solidFill>
                <a:latin typeface="Open Sauce Bold"/>
                <a:ea typeface="Open Sauce Bold"/>
                <a:cs typeface="Open Sauce Bold"/>
                <a:sym typeface="Open Sauce Bold"/>
              </a:rPr>
              <a:t>Quản lý dữ liệu: </a:t>
            </a:r>
            <a:r>
              <a:rPr lang="en-US" sz="3200" spc="105">
                <a:solidFill>
                  <a:srgbClr val="FFFFFF"/>
                </a:solidFill>
                <a:latin typeface="Open Sauce"/>
                <a:ea typeface="Open Sauce"/>
                <a:cs typeface="Open Sauce"/>
                <a:sym typeface="Open Sauce"/>
              </a:rPr>
              <a:t>Thư viện CSV hỗ trợ nạp/xuất dữ liệu (Data Integration) từ các kịch bản thực tế.</a:t>
            </a:r>
          </a:p>
          <a:p>
            <a:pPr marL="1381761" lvl="2" indent="-460587" algn="l">
              <a:lnSpc>
                <a:spcPts val="4480"/>
              </a:lnSpc>
              <a:buFont typeface="Arial"/>
              <a:buChar char="⚬"/>
            </a:pPr>
            <a:r>
              <a:rPr lang="en-US" sz="3200" b="1" spc="105">
                <a:solidFill>
                  <a:srgbClr val="FFFFFF"/>
                </a:solidFill>
                <a:latin typeface="Open Sauce Bold"/>
                <a:ea typeface="Open Sauce Bold"/>
                <a:cs typeface="Open Sauce Bold"/>
                <a:sym typeface="Open Sauce Bold"/>
              </a:rPr>
              <a:t>Cơ chế cốt lõi:</a:t>
            </a:r>
            <a:r>
              <a:rPr lang="en-US" sz="3200" spc="105">
                <a:solidFill>
                  <a:srgbClr val="FFFFFF"/>
                </a:solidFill>
                <a:latin typeface="Open Sauce"/>
                <a:ea typeface="Open Sauce"/>
                <a:cs typeface="Open Sauce"/>
                <a:sym typeface="Open Sauce"/>
              </a:rPr>
              <a:t> Tách biệt hoàn toàn giữa Giao diện và Logic (Module main_logic.py).</a:t>
            </a:r>
          </a:p>
          <a:p>
            <a:pPr marL="1381761" lvl="2" indent="-460587" algn="l">
              <a:lnSpc>
                <a:spcPts val="4480"/>
              </a:lnSpc>
              <a:buFont typeface="Arial"/>
              <a:buChar char="⚬"/>
            </a:pPr>
            <a:r>
              <a:rPr lang="en-US" sz="3200" spc="105">
                <a:solidFill>
                  <a:srgbClr val="FFFFFF"/>
                </a:solidFill>
                <a:latin typeface="Open Sauce"/>
                <a:ea typeface="Open Sauce"/>
                <a:cs typeface="Open Sauce"/>
                <a:sym typeface="Open Sauce"/>
              </a:rPr>
              <a:t>Xử lý Non-blocking GUI bằng phương thức .after(), đảm bảo hiệu ứng mượt mà, không giật lag.</a:t>
            </a:r>
          </a:p>
        </p:txBody>
      </p:sp>
      <p:sp>
        <p:nvSpPr>
          <p:cNvPr id="6" name="TextBox 6"/>
          <p:cNvSpPr txBox="1"/>
          <p:nvPr/>
        </p:nvSpPr>
        <p:spPr>
          <a:xfrm>
            <a:off x="1735466" y="397467"/>
            <a:ext cx="4609634" cy="489742"/>
          </a:xfrm>
          <a:prstGeom prst="rect">
            <a:avLst/>
          </a:prstGeom>
        </p:spPr>
        <p:txBody>
          <a:bodyPr lIns="0" tIns="0" rIns="0" bIns="0" rtlCol="0" anchor="t">
            <a:spAutoFit/>
          </a:bodyPr>
          <a:lstStyle/>
          <a:p>
            <a:pPr marL="0" lvl="0" indent="0" algn="l">
              <a:lnSpc>
                <a:spcPts val="3981"/>
              </a:lnSpc>
              <a:spcBef>
                <a:spcPct val="0"/>
              </a:spcBef>
            </a:pPr>
            <a:r>
              <a:rPr lang="en-US" sz="2843" spc="5">
                <a:solidFill>
                  <a:srgbClr val="FFFFFF"/>
                </a:solidFill>
                <a:latin typeface="Open Sauce"/>
                <a:ea typeface="Open Sauce"/>
                <a:cs typeface="Open Sauce"/>
                <a:sym typeface="Open Sauce"/>
              </a:rPr>
              <a:t>Group 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2"/>
            <a:stretch>
              <a:fillRect/>
            </a:stretch>
          </a:blipFill>
        </p:spPr>
      </p:sp>
      <p:sp>
        <p:nvSpPr>
          <p:cNvPr id="3" name="Freeform 3"/>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3"/>
            <a:stretch>
              <a:fillRect/>
            </a:stretch>
          </a:blipFill>
        </p:spPr>
      </p:sp>
      <p:sp>
        <p:nvSpPr>
          <p:cNvPr id="4" name="Freeform 4"/>
          <p:cNvSpPr/>
          <p:nvPr/>
        </p:nvSpPr>
        <p:spPr>
          <a:xfrm>
            <a:off x="695603" y="420807"/>
            <a:ext cx="557607" cy="557607"/>
          </a:xfrm>
          <a:custGeom>
            <a:avLst/>
            <a:gdLst/>
            <a:ahLst/>
            <a:cxnLst/>
            <a:rect l="l" t="t" r="r" b="b"/>
            <a:pathLst>
              <a:path w="557607" h="557607">
                <a:moveTo>
                  <a:pt x="0" y="0"/>
                </a:moveTo>
                <a:lnTo>
                  <a:pt x="557607" y="0"/>
                </a:lnTo>
                <a:lnTo>
                  <a:pt x="557607" y="557607"/>
                </a:lnTo>
                <a:lnTo>
                  <a:pt x="0" y="557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028700" y="1582694"/>
            <a:ext cx="16230600" cy="5761990"/>
          </a:xfrm>
          <a:prstGeom prst="rect">
            <a:avLst/>
          </a:prstGeom>
        </p:spPr>
        <p:txBody>
          <a:bodyPr lIns="0" tIns="0" rIns="0" bIns="0" rtlCol="0" anchor="t">
            <a:spAutoFit/>
          </a:bodyPr>
          <a:lstStyle/>
          <a:p>
            <a:pPr algn="l">
              <a:lnSpc>
                <a:spcPts val="5039"/>
              </a:lnSpc>
            </a:pPr>
            <a:r>
              <a:rPr lang="en-US" sz="3599" b="1" spc="118">
                <a:solidFill>
                  <a:srgbClr val="FFFFFF"/>
                </a:solidFill>
                <a:latin typeface="Open Sauce Bold"/>
                <a:ea typeface="Open Sauce Bold"/>
                <a:cs typeface="Open Sauce Bold"/>
                <a:sym typeface="Open Sauce Bold"/>
              </a:rPr>
              <a:t>Memory Visualizer &amp; Input UI</a:t>
            </a:r>
          </a:p>
          <a:p>
            <a:pPr algn="l">
              <a:lnSpc>
                <a:spcPts val="4759"/>
              </a:lnSpc>
            </a:pPr>
            <a:endParaRPr lang="en-US" sz="3599" b="1" spc="118">
              <a:solidFill>
                <a:srgbClr val="FFFFFF"/>
              </a:solidFill>
              <a:latin typeface="Open Sauce Bold"/>
              <a:ea typeface="Open Sauce Bold"/>
              <a:cs typeface="Open Sauce Bold"/>
              <a:sym typeface="Open Sauce Bold"/>
            </a:endParaRPr>
          </a:p>
          <a:p>
            <a:pPr marL="734059" lvl="1" indent="-367030" algn="l">
              <a:lnSpc>
                <a:spcPts val="4759"/>
              </a:lnSpc>
              <a:buFont typeface="Arial"/>
              <a:buChar char="•"/>
            </a:pPr>
            <a:r>
              <a:rPr lang="en-US" sz="3399" b="1" spc="112">
                <a:solidFill>
                  <a:srgbClr val="FFFFFF"/>
                </a:solidFill>
                <a:latin typeface="Open Sauce Bold"/>
                <a:ea typeface="Open Sauce Bold"/>
                <a:cs typeface="Open Sauce Bold"/>
                <a:sym typeface="Open Sauce Bold"/>
              </a:rPr>
              <a:t>Tính năng &amp; Trực quan hóa (Visualization)</a:t>
            </a:r>
          </a:p>
          <a:p>
            <a:pPr marL="1381761" lvl="2" indent="-460587" algn="l">
              <a:lnSpc>
                <a:spcPts val="4480"/>
              </a:lnSpc>
              <a:buFont typeface="Arial"/>
              <a:buChar char="⚬"/>
            </a:pPr>
            <a:r>
              <a:rPr lang="en-US" sz="3200" b="1" spc="105">
                <a:solidFill>
                  <a:srgbClr val="FFFFFF"/>
                </a:solidFill>
                <a:latin typeface="Open Sauce Bold"/>
                <a:ea typeface="Open Sauce Bold"/>
                <a:cs typeface="Open Sauce Bold"/>
                <a:sym typeface="Open Sauce Bold"/>
              </a:rPr>
              <a:t>Dynamic Visualizer: </a:t>
            </a:r>
            <a:r>
              <a:rPr lang="en-US" sz="3200" spc="105">
                <a:solidFill>
                  <a:srgbClr val="FFFFFF"/>
                </a:solidFill>
                <a:latin typeface="Open Sauce"/>
                <a:ea typeface="Open Sauce"/>
                <a:cs typeface="Open Sauce"/>
                <a:sym typeface="Open Sauce"/>
              </a:rPr>
              <a:t>Vẽ sơ đồ RAM trên Canvas, tự động co dãn (Auto-scaling) theo dung lượng thực.</a:t>
            </a:r>
          </a:p>
          <a:p>
            <a:pPr marL="1381761" lvl="2" indent="-460587" algn="l">
              <a:lnSpc>
                <a:spcPts val="4480"/>
              </a:lnSpc>
              <a:buFont typeface="Arial"/>
              <a:buChar char="⚬"/>
            </a:pPr>
            <a:r>
              <a:rPr lang="en-US" sz="3200" b="1" spc="105">
                <a:solidFill>
                  <a:srgbClr val="FFFFFF"/>
                </a:solidFill>
                <a:latin typeface="Open Sauce Bold"/>
                <a:ea typeface="Open Sauce Bold"/>
                <a:cs typeface="Open Sauce Bold"/>
                <a:sym typeface="Open Sauce Bold"/>
              </a:rPr>
              <a:t>Mô phỏng tương tác: </a:t>
            </a:r>
            <a:r>
              <a:rPr lang="en-US" sz="3200" spc="105">
                <a:solidFill>
                  <a:srgbClr val="FFFFFF"/>
                </a:solidFill>
                <a:latin typeface="Open Sauce"/>
                <a:ea typeface="Open Sauce"/>
                <a:cs typeface="Open Sauce"/>
                <a:sym typeface="Open Sauce"/>
              </a:rPr>
              <a:t>Animation Fill: Hiệu ứng nạp tiến trình sinh động.</a:t>
            </a:r>
          </a:p>
          <a:p>
            <a:pPr marL="1381761" lvl="2" indent="-460587" algn="l">
              <a:lnSpc>
                <a:spcPts val="4480"/>
              </a:lnSpc>
              <a:buFont typeface="Arial"/>
              <a:buChar char="⚬"/>
            </a:pPr>
            <a:r>
              <a:rPr lang="en-US" sz="3200" b="1" spc="105">
                <a:solidFill>
                  <a:srgbClr val="FFFFFF"/>
                </a:solidFill>
                <a:latin typeface="Open Sauce Bold"/>
                <a:ea typeface="Open Sauce Bold"/>
                <a:cs typeface="Open Sauce Bold"/>
                <a:sym typeface="Open Sauce Bold"/>
              </a:rPr>
              <a:t>Speed Control:</a:t>
            </a:r>
            <a:r>
              <a:rPr lang="en-US" sz="3200" spc="105">
                <a:solidFill>
                  <a:srgbClr val="FFFFFF"/>
                </a:solidFill>
                <a:latin typeface="Open Sauce"/>
                <a:ea typeface="Open Sauce"/>
                <a:cs typeface="Open Sauce"/>
                <a:sym typeface="Open Sauce"/>
              </a:rPr>
              <a:t> Thanh trượt điều chỉnh tốc độ từ 1x – 50x, linh hoạt cho mọi nhu cầu demo.</a:t>
            </a:r>
          </a:p>
          <a:p>
            <a:pPr marL="1381761" lvl="2" indent="-460587" algn="l">
              <a:lnSpc>
                <a:spcPts val="4480"/>
              </a:lnSpc>
              <a:buFont typeface="Arial"/>
              <a:buChar char="⚬"/>
            </a:pPr>
            <a:r>
              <a:rPr lang="en-US" sz="3200" b="1" spc="105">
                <a:solidFill>
                  <a:srgbClr val="FFFFFF"/>
                </a:solidFill>
                <a:latin typeface="Open Sauce Bold"/>
                <a:ea typeface="Open Sauce Bold"/>
                <a:cs typeface="Open Sauce Bold"/>
                <a:sym typeface="Open Sauce Bold"/>
              </a:rPr>
              <a:t>Dashboard thời gian thực: </a:t>
            </a:r>
            <a:r>
              <a:rPr lang="en-US" sz="3200" spc="105">
                <a:solidFill>
                  <a:srgbClr val="FFFFFF"/>
                </a:solidFill>
                <a:latin typeface="Open Sauce"/>
                <a:ea typeface="Open Sauce"/>
                <a:cs typeface="Open Sauce"/>
                <a:sym typeface="Open Sauce"/>
              </a:rPr>
              <a:t>Thống kê tỷ lệ cấp phát và chỉ số Memory Usage (%) tức thời.</a:t>
            </a:r>
          </a:p>
        </p:txBody>
      </p:sp>
      <p:sp>
        <p:nvSpPr>
          <p:cNvPr id="6" name="TextBox 6"/>
          <p:cNvSpPr txBox="1"/>
          <p:nvPr/>
        </p:nvSpPr>
        <p:spPr>
          <a:xfrm>
            <a:off x="1735466" y="397467"/>
            <a:ext cx="4609634" cy="489742"/>
          </a:xfrm>
          <a:prstGeom prst="rect">
            <a:avLst/>
          </a:prstGeom>
        </p:spPr>
        <p:txBody>
          <a:bodyPr lIns="0" tIns="0" rIns="0" bIns="0" rtlCol="0" anchor="t">
            <a:spAutoFit/>
          </a:bodyPr>
          <a:lstStyle/>
          <a:p>
            <a:pPr marL="0" lvl="0" indent="0" algn="l">
              <a:lnSpc>
                <a:spcPts val="3981"/>
              </a:lnSpc>
              <a:spcBef>
                <a:spcPct val="0"/>
              </a:spcBef>
            </a:pPr>
            <a:r>
              <a:rPr lang="en-US" sz="2843" spc="5">
                <a:solidFill>
                  <a:srgbClr val="FFFFFF"/>
                </a:solidFill>
                <a:latin typeface="Open Sauce"/>
                <a:ea typeface="Open Sauce"/>
                <a:cs typeface="Open Sauce"/>
                <a:sym typeface="Open Sauce"/>
              </a:rPr>
              <a:t>Group 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2"/>
            <a:stretch>
              <a:fillRect/>
            </a:stretch>
          </a:blipFill>
        </p:spPr>
      </p:sp>
      <p:sp>
        <p:nvSpPr>
          <p:cNvPr id="3" name="Freeform 3"/>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3"/>
            <a:stretch>
              <a:fillRect/>
            </a:stretch>
          </a:blipFill>
        </p:spPr>
      </p:sp>
      <p:sp>
        <p:nvSpPr>
          <p:cNvPr id="4" name="Freeform 4"/>
          <p:cNvSpPr/>
          <p:nvPr/>
        </p:nvSpPr>
        <p:spPr>
          <a:xfrm>
            <a:off x="695603" y="420807"/>
            <a:ext cx="557607" cy="557607"/>
          </a:xfrm>
          <a:custGeom>
            <a:avLst/>
            <a:gdLst/>
            <a:ahLst/>
            <a:cxnLst/>
            <a:rect l="l" t="t" r="r" b="b"/>
            <a:pathLst>
              <a:path w="557607" h="557607">
                <a:moveTo>
                  <a:pt x="0" y="0"/>
                </a:moveTo>
                <a:lnTo>
                  <a:pt x="557607" y="0"/>
                </a:lnTo>
                <a:lnTo>
                  <a:pt x="557607" y="557607"/>
                </a:lnTo>
                <a:lnTo>
                  <a:pt x="0" y="557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028700" y="1582694"/>
            <a:ext cx="16230600" cy="5761990"/>
          </a:xfrm>
          <a:prstGeom prst="rect">
            <a:avLst/>
          </a:prstGeom>
        </p:spPr>
        <p:txBody>
          <a:bodyPr lIns="0" tIns="0" rIns="0" bIns="0" rtlCol="0" anchor="t">
            <a:spAutoFit/>
          </a:bodyPr>
          <a:lstStyle/>
          <a:p>
            <a:pPr algn="l">
              <a:lnSpc>
                <a:spcPts val="5039"/>
              </a:lnSpc>
            </a:pPr>
            <a:r>
              <a:rPr lang="en-US" sz="3599" b="1" spc="118">
                <a:solidFill>
                  <a:srgbClr val="FFFFFF"/>
                </a:solidFill>
                <a:latin typeface="Open Sauce Bold"/>
                <a:ea typeface="Open Sauce Bold"/>
                <a:cs typeface="Open Sauce Bold"/>
                <a:sym typeface="Open Sauce Bold"/>
              </a:rPr>
              <a:t>Memory Visualizer &amp; Input UI</a:t>
            </a:r>
          </a:p>
          <a:p>
            <a:pPr algn="l">
              <a:lnSpc>
                <a:spcPts val="4759"/>
              </a:lnSpc>
            </a:pPr>
            <a:endParaRPr lang="en-US" sz="3599" b="1" spc="118">
              <a:solidFill>
                <a:srgbClr val="FFFFFF"/>
              </a:solidFill>
              <a:latin typeface="Open Sauce Bold"/>
              <a:ea typeface="Open Sauce Bold"/>
              <a:cs typeface="Open Sauce Bold"/>
              <a:sym typeface="Open Sauce Bold"/>
            </a:endParaRPr>
          </a:p>
          <a:p>
            <a:pPr marL="734059" lvl="1" indent="-367030" algn="l">
              <a:lnSpc>
                <a:spcPts val="4759"/>
              </a:lnSpc>
              <a:buFont typeface="Arial"/>
              <a:buChar char="•"/>
            </a:pPr>
            <a:r>
              <a:rPr lang="en-US" sz="3399" b="1" spc="112">
                <a:solidFill>
                  <a:srgbClr val="FFFFFF"/>
                </a:solidFill>
                <a:latin typeface="Open Sauce Bold"/>
                <a:ea typeface="Open Sauce Bold"/>
                <a:cs typeface="Open Sauce Bold"/>
                <a:sym typeface="Open Sauce Bold"/>
              </a:rPr>
              <a:t>Quy trình vận hành (Workflow):</a:t>
            </a:r>
          </a:p>
          <a:p>
            <a:pPr marL="1381761" lvl="2" indent="-460587" algn="l">
              <a:lnSpc>
                <a:spcPts val="4480"/>
              </a:lnSpc>
              <a:buFont typeface="Arial"/>
              <a:buChar char="⚬"/>
            </a:pPr>
            <a:r>
              <a:rPr lang="en-US" sz="3200" b="1" spc="105">
                <a:solidFill>
                  <a:srgbClr val="FFFFFF"/>
                </a:solidFill>
                <a:latin typeface="Open Sauce Bold"/>
                <a:ea typeface="Open Sauce Bold"/>
                <a:cs typeface="Open Sauce Bold"/>
                <a:sym typeface="Open Sauce Bold"/>
              </a:rPr>
              <a:t>Bước 1 (Input):</a:t>
            </a:r>
            <a:r>
              <a:rPr lang="en-US" sz="3200" spc="105">
                <a:solidFill>
                  <a:srgbClr val="FFFFFF"/>
                </a:solidFill>
                <a:latin typeface="Open Sauce"/>
                <a:ea typeface="Open Sauce"/>
                <a:cs typeface="Open Sauce"/>
                <a:sym typeface="Open Sauce"/>
              </a:rPr>
              <a:t> Nạp dữ liệu cấu hình từ file Blocks.csv và Procs.csv.</a:t>
            </a:r>
          </a:p>
          <a:p>
            <a:pPr marL="1381761" lvl="2" indent="-460587" algn="l">
              <a:lnSpc>
                <a:spcPts val="4480"/>
              </a:lnSpc>
              <a:buFont typeface="Arial"/>
              <a:buChar char="⚬"/>
            </a:pPr>
            <a:r>
              <a:rPr lang="en-US" sz="3200" b="1" spc="105">
                <a:solidFill>
                  <a:srgbClr val="FFFFFF"/>
                </a:solidFill>
                <a:latin typeface="Open Sauce Bold"/>
                <a:ea typeface="Open Sauce Bold"/>
                <a:cs typeface="Open Sauce Bold"/>
                <a:sym typeface="Open Sauce Bold"/>
              </a:rPr>
              <a:t>Bước 2 (Config): </a:t>
            </a:r>
            <a:r>
              <a:rPr lang="en-US" sz="3200" spc="105">
                <a:solidFill>
                  <a:srgbClr val="FFFFFF"/>
                </a:solidFill>
                <a:latin typeface="Open Sauce"/>
                <a:ea typeface="Open Sauce"/>
                <a:cs typeface="Open Sauce"/>
                <a:sym typeface="Open Sauce"/>
              </a:rPr>
              <a:t>Tùy chọn thuật toán (First-Fit, Best-Fit, Worst-Fit) và tốc độ.</a:t>
            </a:r>
          </a:p>
          <a:p>
            <a:pPr marL="1381761" lvl="2" indent="-460587" algn="l">
              <a:lnSpc>
                <a:spcPts val="4480"/>
              </a:lnSpc>
              <a:buFont typeface="Arial"/>
              <a:buChar char="⚬"/>
            </a:pPr>
            <a:r>
              <a:rPr lang="en-US" sz="3200" b="1" spc="105">
                <a:solidFill>
                  <a:srgbClr val="FFFFFF"/>
                </a:solidFill>
                <a:latin typeface="Open Sauce Bold"/>
                <a:ea typeface="Open Sauce Bold"/>
                <a:cs typeface="Open Sauce Bold"/>
                <a:sym typeface="Open Sauce Bold"/>
              </a:rPr>
              <a:t>Bước 3 (Execution):</a:t>
            </a:r>
            <a:r>
              <a:rPr lang="en-US" sz="3200" spc="105">
                <a:solidFill>
                  <a:srgbClr val="FFFFFF"/>
                </a:solidFill>
                <a:latin typeface="Open Sauce"/>
                <a:ea typeface="Open Sauce"/>
                <a:cs typeface="Open Sauce"/>
                <a:sym typeface="Open Sauce"/>
              </a:rPr>
              <a:t> Hệ thống thực thi tìm kiếm, tính toán và hiển thị chuyển động.</a:t>
            </a:r>
          </a:p>
          <a:p>
            <a:pPr marL="1381761" lvl="2" indent="-460587" algn="l">
              <a:lnSpc>
                <a:spcPts val="4480"/>
              </a:lnSpc>
              <a:buFont typeface="Arial"/>
              <a:buChar char="⚬"/>
            </a:pPr>
            <a:r>
              <a:rPr lang="en-US" sz="3200" b="1" spc="105">
                <a:solidFill>
                  <a:srgbClr val="FFFFFF"/>
                </a:solidFill>
                <a:latin typeface="Open Sauce Bold"/>
                <a:ea typeface="Open Sauce Bold"/>
                <a:cs typeface="Open Sauce Bold"/>
                <a:sym typeface="Open Sauce Bold"/>
              </a:rPr>
              <a:t>Bước 4 (Report):</a:t>
            </a:r>
            <a:r>
              <a:rPr lang="en-US" sz="3200" spc="105">
                <a:solidFill>
                  <a:srgbClr val="FFFFFF"/>
                </a:solidFill>
                <a:latin typeface="Open Sauce"/>
                <a:ea typeface="Open Sauce"/>
                <a:cs typeface="Open Sauce"/>
                <a:sym typeface="Open Sauce"/>
              </a:rPr>
              <a:t> Xuất báo cáo CSV bao gồm thông số Phân mảnh nội tại (Internal Fragmentation).</a:t>
            </a:r>
          </a:p>
        </p:txBody>
      </p:sp>
      <p:sp>
        <p:nvSpPr>
          <p:cNvPr id="6" name="TextBox 6"/>
          <p:cNvSpPr txBox="1"/>
          <p:nvPr/>
        </p:nvSpPr>
        <p:spPr>
          <a:xfrm>
            <a:off x="1735466" y="397467"/>
            <a:ext cx="4609634" cy="489742"/>
          </a:xfrm>
          <a:prstGeom prst="rect">
            <a:avLst/>
          </a:prstGeom>
        </p:spPr>
        <p:txBody>
          <a:bodyPr lIns="0" tIns="0" rIns="0" bIns="0" rtlCol="0" anchor="t">
            <a:spAutoFit/>
          </a:bodyPr>
          <a:lstStyle/>
          <a:p>
            <a:pPr marL="0" lvl="0" indent="0" algn="l">
              <a:lnSpc>
                <a:spcPts val="3981"/>
              </a:lnSpc>
              <a:spcBef>
                <a:spcPct val="0"/>
              </a:spcBef>
            </a:pPr>
            <a:r>
              <a:rPr lang="en-US" sz="2843" spc="5">
                <a:solidFill>
                  <a:srgbClr val="FFFFFF"/>
                </a:solidFill>
                <a:latin typeface="Open Sauce"/>
                <a:ea typeface="Open Sauce"/>
                <a:cs typeface="Open Sauce"/>
                <a:sym typeface="Open Sauce"/>
              </a:rPr>
              <a:t>Group 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2"/>
            <a:stretch>
              <a:fillRect/>
            </a:stretch>
          </a:blipFill>
        </p:spPr>
      </p:sp>
      <p:sp>
        <p:nvSpPr>
          <p:cNvPr id="3" name="Freeform 3"/>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3"/>
            <a:stretch>
              <a:fillRect/>
            </a:stretch>
          </a:blipFill>
        </p:spPr>
      </p:sp>
      <p:sp>
        <p:nvSpPr>
          <p:cNvPr id="4" name="Freeform 4"/>
          <p:cNvSpPr/>
          <p:nvPr/>
        </p:nvSpPr>
        <p:spPr>
          <a:xfrm>
            <a:off x="695603" y="420807"/>
            <a:ext cx="557607" cy="557607"/>
          </a:xfrm>
          <a:custGeom>
            <a:avLst/>
            <a:gdLst/>
            <a:ahLst/>
            <a:cxnLst/>
            <a:rect l="l" t="t" r="r" b="b"/>
            <a:pathLst>
              <a:path w="557607" h="557607">
                <a:moveTo>
                  <a:pt x="0" y="0"/>
                </a:moveTo>
                <a:lnTo>
                  <a:pt x="557607" y="0"/>
                </a:lnTo>
                <a:lnTo>
                  <a:pt x="557607" y="557607"/>
                </a:lnTo>
                <a:lnTo>
                  <a:pt x="0" y="557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181295" y="1226979"/>
            <a:ext cx="13925410" cy="7833043"/>
          </a:xfrm>
          <a:custGeom>
            <a:avLst/>
            <a:gdLst/>
            <a:ahLst/>
            <a:cxnLst/>
            <a:rect l="l" t="t" r="r" b="b"/>
            <a:pathLst>
              <a:path w="13925410" h="7833043">
                <a:moveTo>
                  <a:pt x="0" y="0"/>
                </a:moveTo>
                <a:lnTo>
                  <a:pt x="13925410" y="0"/>
                </a:lnTo>
                <a:lnTo>
                  <a:pt x="13925410" y="7833042"/>
                </a:lnTo>
                <a:lnTo>
                  <a:pt x="0" y="7833042"/>
                </a:lnTo>
                <a:lnTo>
                  <a:pt x="0" y="0"/>
                </a:lnTo>
                <a:close/>
              </a:path>
            </a:pathLst>
          </a:custGeom>
          <a:blipFill>
            <a:blip r:embed="rId6"/>
            <a:stretch>
              <a:fillRect/>
            </a:stretch>
          </a:blipFill>
        </p:spPr>
      </p:sp>
      <p:sp>
        <p:nvSpPr>
          <p:cNvPr id="6" name="TextBox 6"/>
          <p:cNvSpPr txBox="1"/>
          <p:nvPr/>
        </p:nvSpPr>
        <p:spPr>
          <a:xfrm>
            <a:off x="1735466" y="397467"/>
            <a:ext cx="4609634" cy="489742"/>
          </a:xfrm>
          <a:prstGeom prst="rect">
            <a:avLst/>
          </a:prstGeom>
        </p:spPr>
        <p:txBody>
          <a:bodyPr lIns="0" tIns="0" rIns="0" bIns="0" rtlCol="0" anchor="t">
            <a:spAutoFit/>
          </a:bodyPr>
          <a:lstStyle/>
          <a:p>
            <a:pPr marL="0" lvl="0" indent="0" algn="l">
              <a:lnSpc>
                <a:spcPts val="3981"/>
              </a:lnSpc>
              <a:spcBef>
                <a:spcPct val="0"/>
              </a:spcBef>
            </a:pPr>
            <a:r>
              <a:rPr lang="en-US" sz="2843" spc="5">
                <a:solidFill>
                  <a:srgbClr val="FFFFFF"/>
                </a:solidFill>
                <a:latin typeface="Open Sauce"/>
                <a:ea typeface="Open Sauce"/>
                <a:cs typeface="Open Sauce"/>
                <a:sym typeface="Open Sauce"/>
              </a:rPr>
              <a:t>Group 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2"/>
            <a:stretch>
              <a:fillRect/>
            </a:stretch>
          </a:blipFill>
        </p:spPr>
      </p:sp>
      <p:sp>
        <p:nvSpPr>
          <p:cNvPr id="3" name="Freeform 3"/>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3"/>
            <a:stretch>
              <a:fillRect/>
            </a:stretch>
          </a:blipFill>
        </p:spPr>
      </p:sp>
      <p:sp>
        <p:nvSpPr>
          <p:cNvPr id="4" name="Freeform 4"/>
          <p:cNvSpPr/>
          <p:nvPr/>
        </p:nvSpPr>
        <p:spPr>
          <a:xfrm>
            <a:off x="695603" y="420807"/>
            <a:ext cx="557607" cy="557607"/>
          </a:xfrm>
          <a:custGeom>
            <a:avLst/>
            <a:gdLst/>
            <a:ahLst/>
            <a:cxnLst/>
            <a:rect l="l" t="t" r="r" b="b"/>
            <a:pathLst>
              <a:path w="557607" h="557607">
                <a:moveTo>
                  <a:pt x="0" y="0"/>
                </a:moveTo>
                <a:lnTo>
                  <a:pt x="557607" y="0"/>
                </a:lnTo>
                <a:lnTo>
                  <a:pt x="557607" y="557607"/>
                </a:lnTo>
                <a:lnTo>
                  <a:pt x="0" y="557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656511" y="1494288"/>
            <a:ext cx="12974978" cy="7298425"/>
          </a:xfrm>
          <a:custGeom>
            <a:avLst/>
            <a:gdLst/>
            <a:ahLst/>
            <a:cxnLst/>
            <a:rect l="l" t="t" r="r" b="b"/>
            <a:pathLst>
              <a:path w="12974978" h="7298425">
                <a:moveTo>
                  <a:pt x="0" y="0"/>
                </a:moveTo>
                <a:lnTo>
                  <a:pt x="12974978" y="0"/>
                </a:lnTo>
                <a:lnTo>
                  <a:pt x="12974978" y="7298424"/>
                </a:lnTo>
                <a:lnTo>
                  <a:pt x="0" y="7298424"/>
                </a:lnTo>
                <a:lnTo>
                  <a:pt x="0" y="0"/>
                </a:lnTo>
                <a:close/>
              </a:path>
            </a:pathLst>
          </a:custGeom>
          <a:blipFill>
            <a:blip r:embed="rId6"/>
            <a:stretch>
              <a:fillRect/>
            </a:stretch>
          </a:blipFill>
        </p:spPr>
      </p:sp>
      <p:sp>
        <p:nvSpPr>
          <p:cNvPr id="6" name="TextBox 6"/>
          <p:cNvSpPr txBox="1"/>
          <p:nvPr/>
        </p:nvSpPr>
        <p:spPr>
          <a:xfrm>
            <a:off x="1735466" y="397467"/>
            <a:ext cx="4609634" cy="489742"/>
          </a:xfrm>
          <a:prstGeom prst="rect">
            <a:avLst/>
          </a:prstGeom>
        </p:spPr>
        <p:txBody>
          <a:bodyPr lIns="0" tIns="0" rIns="0" bIns="0" rtlCol="0" anchor="t">
            <a:spAutoFit/>
          </a:bodyPr>
          <a:lstStyle/>
          <a:p>
            <a:pPr marL="0" lvl="0" indent="0" algn="l">
              <a:lnSpc>
                <a:spcPts val="3981"/>
              </a:lnSpc>
              <a:spcBef>
                <a:spcPct val="0"/>
              </a:spcBef>
            </a:pPr>
            <a:r>
              <a:rPr lang="en-US" sz="2843" spc="5">
                <a:solidFill>
                  <a:srgbClr val="FFFFFF"/>
                </a:solidFill>
                <a:latin typeface="Open Sauce"/>
                <a:ea typeface="Open Sauce"/>
                <a:cs typeface="Open Sauce"/>
                <a:sym typeface="Open Sauce"/>
              </a:rPr>
              <a:t>Group 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2"/>
            <a:stretch>
              <a:fillRect/>
            </a:stretch>
          </a:blipFill>
        </p:spPr>
      </p:sp>
      <p:sp>
        <p:nvSpPr>
          <p:cNvPr id="3" name="Freeform 3"/>
          <p:cNvSpPr/>
          <p:nvPr/>
        </p:nvSpPr>
        <p:spPr>
          <a:xfrm>
            <a:off x="1043573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3"/>
            <a:stretch>
              <a:fillRect/>
            </a:stretch>
          </a:blipFill>
        </p:spPr>
      </p:sp>
      <p:sp>
        <p:nvSpPr>
          <p:cNvPr id="4" name="Freeform 4"/>
          <p:cNvSpPr/>
          <p:nvPr/>
        </p:nvSpPr>
        <p:spPr>
          <a:xfrm>
            <a:off x="695603" y="420807"/>
            <a:ext cx="557607" cy="557607"/>
          </a:xfrm>
          <a:custGeom>
            <a:avLst/>
            <a:gdLst/>
            <a:ahLst/>
            <a:cxnLst/>
            <a:rect l="l" t="t" r="r" b="b"/>
            <a:pathLst>
              <a:path w="557607" h="557607">
                <a:moveTo>
                  <a:pt x="0" y="0"/>
                </a:moveTo>
                <a:lnTo>
                  <a:pt x="557607" y="0"/>
                </a:lnTo>
                <a:lnTo>
                  <a:pt x="557607" y="557607"/>
                </a:lnTo>
                <a:lnTo>
                  <a:pt x="0" y="557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735466" y="397467"/>
            <a:ext cx="4609634" cy="489742"/>
          </a:xfrm>
          <a:prstGeom prst="rect">
            <a:avLst/>
          </a:prstGeom>
        </p:spPr>
        <p:txBody>
          <a:bodyPr lIns="0" tIns="0" rIns="0" bIns="0" rtlCol="0" anchor="t">
            <a:spAutoFit/>
          </a:bodyPr>
          <a:lstStyle/>
          <a:p>
            <a:pPr marL="0" lvl="0" indent="0" algn="l">
              <a:lnSpc>
                <a:spcPts val="3981"/>
              </a:lnSpc>
              <a:spcBef>
                <a:spcPct val="0"/>
              </a:spcBef>
            </a:pPr>
            <a:r>
              <a:rPr lang="en-US" sz="2843" spc="5">
                <a:solidFill>
                  <a:srgbClr val="FFFFFF"/>
                </a:solidFill>
                <a:latin typeface="Open Sauce"/>
                <a:ea typeface="Open Sauce"/>
                <a:cs typeface="Open Sauce"/>
                <a:sym typeface="Open Sauce"/>
              </a:rPr>
              <a:t>Group 9</a:t>
            </a:r>
          </a:p>
        </p:txBody>
      </p:sp>
      <p:sp>
        <p:nvSpPr>
          <p:cNvPr id="6" name="TextBox 6"/>
          <p:cNvSpPr txBox="1"/>
          <p:nvPr/>
        </p:nvSpPr>
        <p:spPr>
          <a:xfrm>
            <a:off x="1028700" y="1745615"/>
            <a:ext cx="8115300" cy="1180465"/>
          </a:xfrm>
          <a:prstGeom prst="rect">
            <a:avLst/>
          </a:prstGeom>
        </p:spPr>
        <p:txBody>
          <a:bodyPr lIns="0" tIns="0" rIns="0" bIns="0" rtlCol="0" anchor="t">
            <a:spAutoFit/>
          </a:bodyPr>
          <a:lstStyle/>
          <a:p>
            <a:pPr algn="l">
              <a:lnSpc>
                <a:spcPts val="4759"/>
              </a:lnSpc>
            </a:pPr>
            <a:r>
              <a:rPr lang="en-US" sz="3399" b="1" spc="6">
                <a:solidFill>
                  <a:srgbClr val="FFFFFF"/>
                </a:solidFill>
                <a:latin typeface="Open Sauce Bold"/>
                <a:ea typeface="Open Sauce Bold"/>
                <a:cs typeface="Open Sauce Bold"/>
                <a:sym typeface="Open Sauce Bold"/>
              </a:rPr>
              <a:t>Kiểm tra Áp lực (Stress Test):</a:t>
            </a:r>
          </a:p>
          <a:p>
            <a:pPr algn="l">
              <a:lnSpc>
                <a:spcPts val="4759"/>
              </a:lnSpc>
            </a:pPr>
            <a:endParaRPr lang="en-US" sz="3399" b="1" spc="6">
              <a:solidFill>
                <a:srgbClr val="FFFFFF"/>
              </a:solidFill>
              <a:latin typeface="Open Sauce Bold"/>
              <a:ea typeface="Open Sauce Bold"/>
              <a:cs typeface="Open Sauce Bold"/>
              <a:sym typeface="Open Sauce Bold"/>
            </a:endParaRPr>
          </a:p>
        </p:txBody>
      </p:sp>
      <p:sp>
        <p:nvSpPr>
          <p:cNvPr id="7" name="TextBox 7"/>
          <p:cNvSpPr txBox="1"/>
          <p:nvPr/>
        </p:nvSpPr>
        <p:spPr>
          <a:xfrm>
            <a:off x="1028700" y="2868930"/>
            <a:ext cx="8864654" cy="6719570"/>
          </a:xfrm>
          <a:prstGeom prst="rect">
            <a:avLst/>
          </a:prstGeom>
        </p:spPr>
        <p:txBody>
          <a:bodyPr lIns="0" tIns="0" rIns="0" bIns="0" rtlCol="0" anchor="t">
            <a:spAutoFit/>
          </a:bodyPr>
          <a:lstStyle/>
          <a:p>
            <a:pPr marL="690881" lvl="1" indent="-345440" algn="l">
              <a:lnSpc>
                <a:spcPts val="4480"/>
              </a:lnSpc>
              <a:spcBef>
                <a:spcPct val="0"/>
              </a:spcBef>
              <a:buFont typeface="Arial"/>
              <a:buChar char="•"/>
            </a:pPr>
            <a:r>
              <a:rPr lang="en-US" sz="3200" b="1" spc="6">
                <a:solidFill>
                  <a:srgbClr val="FFFFFF"/>
                </a:solidFill>
                <a:latin typeface="Open Sauce Bold"/>
                <a:ea typeface="Open Sauce Bold"/>
                <a:cs typeface="Open Sauce Bold"/>
                <a:sym typeface="Open Sauce Bold"/>
              </a:rPr>
              <a:t>Vấn đề:</a:t>
            </a:r>
            <a:r>
              <a:rPr lang="en-US" sz="3200" spc="6">
                <a:solidFill>
                  <a:srgbClr val="FFFFFF"/>
                </a:solidFill>
                <a:latin typeface="Open Sauce"/>
                <a:ea typeface="Open Sauce"/>
                <a:cs typeface="Open Sauce"/>
                <a:sym typeface="Open Sauce"/>
              </a:rPr>
              <a:t> Hiển thị 5.000 tiến trình đồng thời trên Canvas GUI gây ra tình trạng giật lag và treo ứng dụng (Quá tải giao diện).</a:t>
            </a:r>
          </a:p>
          <a:p>
            <a:pPr marL="690881" lvl="1" indent="-345440" algn="l">
              <a:lnSpc>
                <a:spcPts val="4480"/>
              </a:lnSpc>
              <a:spcBef>
                <a:spcPct val="0"/>
              </a:spcBef>
              <a:buFont typeface="Arial"/>
              <a:buChar char="•"/>
            </a:pPr>
            <a:r>
              <a:rPr lang="en-US" sz="3200" b="1" spc="6">
                <a:solidFill>
                  <a:srgbClr val="FFFFFF"/>
                </a:solidFill>
                <a:latin typeface="Open Sauce Bold"/>
                <a:ea typeface="Open Sauce Bold"/>
                <a:cs typeface="Open Sauce Bold"/>
                <a:sym typeface="Open Sauce Bold"/>
              </a:rPr>
              <a:t>Giải pháp:</a:t>
            </a:r>
            <a:r>
              <a:rPr lang="en-US" sz="3200" spc="6">
                <a:solidFill>
                  <a:srgbClr val="FFFFFF"/>
                </a:solidFill>
                <a:latin typeface="Open Sauce"/>
                <a:ea typeface="Open Sauce"/>
                <a:cs typeface="Open Sauce"/>
                <a:sym typeface="Open Sauce"/>
              </a:rPr>
              <a:t> Một tập lệnh CLI chuyên dụng (run_stress_test.py) tách biệt logic toán học thuần túy khỏi việc hiển thị đồ họa.</a:t>
            </a:r>
          </a:p>
          <a:p>
            <a:pPr marL="690881" lvl="1" indent="-345440" algn="l">
              <a:lnSpc>
                <a:spcPts val="4480"/>
              </a:lnSpc>
              <a:spcBef>
                <a:spcPct val="0"/>
              </a:spcBef>
              <a:buFont typeface="Arial"/>
              <a:buChar char="•"/>
            </a:pPr>
            <a:r>
              <a:rPr lang="en-US" sz="3200" b="1" spc="6">
                <a:solidFill>
                  <a:srgbClr val="FFFFFF"/>
                </a:solidFill>
                <a:latin typeface="Open Sauce Bold"/>
                <a:ea typeface="Open Sauce Bold"/>
                <a:cs typeface="Open Sauce Bold"/>
                <a:sym typeface="Open Sauce Bold"/>
              </a:rPr>
              <a:t>Kết quả: </a:t>
            </a:r>
          </a:p>
          <a:p>
            <a:pPr marL="1381761" lvl="2" indent="-460587" algn="l">
              <a:lnSpc>
                <a:spcPts val="4480"/>
              </a:lnSpc>
              <a:spcBef>
                <a:spcPct val="0"/>
              </a:spcBef>
              <a:buFont typeface="Arial"/>
              <a:buChar char="⚬"/>
            </a:pPr>
            <a:r>
              <a:rPr lang="en-US" sz="3200" spc="6">
                <a:solidFill>
                  <a:srgbClr val="FFFFFF"/>
                </a:solidFill>
                <a:latin typeface="Open Sauce"/>
                <a:ea typeface="Open Sauce"/>
                <a:cs typeface="Open Sauce"/>
                <a:sym typeface="Open Sauce"/>
              </a:rPr>
              <a:t>Tải trọng: 10.000 khối | 5.000 tiến trình.</a:t>
            </a:r>
          </a:p>
          <a:p>
            <a:pPr marL="1381761" lvl="2" indent="-460587" algn="l">
              <a:lnSpc>
                <a:spcPts val="4480"/>
              </a:lnSpc>
              <a:spcBef>
                <a:spcPct val="0"/>
              </a:spcBef>
              <a:buFont typeface="Arial"/>
              <a:buChar char="⚬"/>
            </a:pPr>
            <a:r>
              <a:rPr lang="en-US" sz="3200" spc="6">
                <a:solidFill>
                  <a:srgbClr val="FFFFFF"/>
                </a:solidFill>
                <a:latin typeface="Open Sauce"/>
                <a:ea typeface="Open Sauce"/>
                <a:cs typeface="Open Sauce"/>
                <a:sym typeface="Open Sauce"/>
              </a:rPr>
              <a:t>Thuật toán: First-Fit.</a:t>
            </a:r>
          </a:p>
          <a:p>
            <a:pPr marL="1381761" lvl="2" indent="-460587" algn="l">
              <a:lnSpc>
                <a:spcPts val="4480"/>
              </a:lnSpc>
              <a:spcBef>
                <a:spcPct val="0"/>
              </a:spcBef>
              <a:buFont typeface="Arial"/>
              <a:buChar char="⚬"/>
            </a:pPr>
            <a:r>
              <a:rPr lang="en-US" sz="3200" spc="6">
                <a:solidFill>
                  <a:srgbClr val="FFFFFF"/>
                </a:solidFill>
                <a:latin typeface="Open Sauce"/>
                <a:ea typeface="Open Sauce"/>
                <a:cs typeface="Open Sauce"/>
                <a:sym typeface="Open Sauce"/>
              </a:rPr>
              <a:t>Lỗi/Treo: 0.</a:t>
            </a:r>
          </a:p>
          <a:p>
            <a:pPr marL="1381761" lvl="2" indent="-460587" algn="l">
              <a:lnSpc>
                <a:spcPts val="4480"/>
              </a:lnSpc>
              <a:spcBef>
                <a:spcPct val="0"/>
              </a:spcBef>
              <a:buFont typeface="Arial"/>
              <a:buChar char="⚬"/>
            </a:pPr>
            <a:r>
              <a:rPr lang="en-US" sz="3200" spc="6">
                <a:solidFill>
                  <a:srgbClr val="FFFFFF"/>
                </a:solidFill>
                <a:latin typeface="Open Sauce"/>
                <a:ea typeface="Open Sauce"/>
                <a:cs typeface="Open Sauce"/>
                <a:sym typeface="Open Sauce"/>
              </a:rPr>
              <a:t>Thời gian thực thi: 0.85699 giây.</a:t>
            </a:r>
          </a:p>
        </p:txBody>
      </p:sp>
      <p:sp>
        <p:nvSpPr>
          <p:cNvPr id="8" name="Freeform 8"/>
          <p:cNvSpPr/>
          <p:nvPr/>
        </p:nvSpPr>
        <p:spPr>
          <a:xfrm>
            <a:off x="10106811" y="2369185"/>
            <a:ext cx="7800615" cy="6511937"/>
          </a:xfrm>
          <a:custGeom>
            <a:avLst/>
            <a:gdLst/>
            <a:ahLst/>
            <a:cxnLst/>
            <a:rect l="l" t="t" r="r" b="b"/>
            <a:pathLst>
              <a:path w="7800615" h="6511937">
                <a:moveTo>
                  <a:pt x="0" y="0"/>
                </a:moveTo>
                <a:lnTo>
                  <a:pt x="7800616" y="0"/>
                </a:lnTo>
                <a:lnTo>
                  <a:pt x="7800616" y="6511937"/>
                </a:lnTo>
                <a:lnTo>
                  <a:pt x="0" y="6511937"/>
                </a:lnTo>
                <a:lnTo>
                  <a:pt x="0" y="0"/>
                </a:lnTo>
                <a:close/>
              </a:path>
            </a:pathLst>
          </a:custGeom>
          <a:blipFill>
            <a:blip r:embed="rId6"/>
            <a:stretch>
              <a:fillRect/>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6982967" y="400502"/>
            <a:ext cx="1305033" cy="333097"/>
            <a:chOff x="0" y="0"/>
            <a:chExt cx="343712" cy="87729"/>
          </a:xfrm>
        </p:grpSpPr>
        <p:sp>
          <p:nvSpPr>
            <p:cNvPr id="3" name="Freeform 3"/>
            <p:cNvSpPr/>
            <p:nvPr/>
          </p:nvSpPr>
          <p:spPr>
            <a:xfrm>
              <a:off x="0" y="0"/>
              <a:ext cx="343712" cy="87729"/>
            </a:xfrm>
            <a:custGeom>
              <a:avLst/>
              <a:gdLst/>
              <a:ahLst/>
              <a:cxnLst/>
              <a:rect l="l" t="t" r="r" b="b"/>
              <a:pathLst>
                <a:path w="343712" h="87729">
                  <a:moveTo>
                    <a:pt x="0" y="0"/>
                  </a:moveTo>
                  <a:lnTo>
                    <a:pt x="343712" y="0"/>
                  </a:lnTo>
                  <a:lnTo>
                    <a:pt x="343712" y="87729"/>
                  </a:lnTo>
                  <a:lnTo>
                    <a:pt x="0" y="87729"/>
                  </a:lnTo>
                  <a:close/>
                </a:path>
              </a:pathLst>
            </a:custGeom>
            <a:gradFill rotWithShape="1">
              <a:gsLst>
                <a:gs pos="0">
                  <a:srgbClr val="4E69B1">
                    <a:alpha val="100000"/>
                  </a:srgbClr>
                </a:gs>
                <a:gs pos="100000">
                  <a:srgbClr val="15122A">
                    <a:alpha val="100000"/>
                  </a:srgbClr>
                </a:gs>
              </a:gsLst>
              <a:path path="circle">
                <a:fillToRect r="100000" b="100000"/>
              </a:path>
              <a:tileRect l="-100000" t="-100000"/>
            </a:gradFill>
          </p:spPr>
        </p:sp>
        <p:sp>
          <p:nvSpPr>
            <p:cNvPr id="4" name="TextBox 4"/>
            <p:cNvSpPr txBox="1"/>
            <p:nvPr/>
          </p:nvSpPr>
          <p:spPr>
            <a:xfrm>
              <a:off x="0" y="-38100"/>
              <a:ext cx="343712" cy="125829"/>
            </a:xfrm>
            <a:prstGeom prst="rect">
              <a:avLst/>
            </a:prstGeom>
          </p:spPr>
          <p:txBody>
            <a:bodyPr lIns="50800" tIns="50800" rIns="50800" bIns="50800" rtlCol="0" anchor="ctr"/>
            <a:lstStyle/>
            <a:p>
              <a:pPr marL="0" lvl="0" indent="0" algn="ctr">
                <a:lnSpc>
                  <a:spcPts val="2871"/>
                </a:lnSpc>
              </a:pPr>
              <a:endParaRPr/>
            </a:p>
          </p:txBody>
        </p:sp>
      </p:grpSp>
      <p:sp>
        <p:nvSpPr>
          <p:cNvPr id="5" name="Freeform 5"/>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2"/>
            <a:stretch>
              <a:fillRect/>
            </a:stretch>
          </a:blipFill>
        </p:spPr>
      </p:sp>
      <p:sp>
        <p:nvSpPr>
          <p:cNvPr id="6" name="Freeform 6"/>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3"/>
            <a:stretch>
              <a:fillRect/>
            </a:stretch>
          </a:blipFill>
        </p:spPr>
      </p:sp>
      <p:sp>
        <p:nvSpPr>
          <p:cNvPr id="7" name="Freeform 7"/>
          <p:cNvSpPr/>
          <p:nvPr/>
        </p:nvSpPr>
        <p:spPr>
          <a:xfrm>
            <a:off x="695603" y="420807"/>
            <a:ext cx="557607" cy="557607"/>
          </a:xfrm>
          <a:custGeom>
            <a:avLst/>
            <a:gdLst/>
            <a:ahLst/>
            <a:cxnLst/>
            <a:rect l="l" t="t" r="r" b="b"/>
            <a:pathLst>
              <a:path w="557607" h="557607">
                <a:moveTo>
                  <a:pt x="0" y="0"/>
                </a:moveTo>
                <a:lnTo>
                  <a:pt x="557607" y="0"/>
                </a:lnTo>
                <a:lnTo>
                  <a:pt x="557607" y="557607"/>
                </a:lnTo>
                <a:lnTo>
                  <a:pt x="0" y="557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aphicFrame>
        <p:nvGraphicFramePr>
          <p:cNvPr id="8" name="Table 8"/>
          <p:cNvGraphicFramePr>
            <a:graphicFrameLocks noGrp="1"/>
          </p:cNvGraphicFramePr>
          <p:nvPr/>
        </p:nvGraphicFramePr>
        <p:xfrm>
          <a:off x="1578710" y="2449900"/>
          <a:ext cx="15404256" cy="6822918"/>
        </p:xfrm>
        <a:graphic>
          <a:graphicData uri="http://schemas.openxmlformats.org/drawingml/2006/table">
            <a:tbl>
              <a:tblPr/>
              <a:tblGrid>
                <a:gridCol w="7212688">
                  <a:extLst>
                    <a:ext uri="{9D8B030D-6E8A-4147-A177-3AD203B41FA5}">
                      <a16:colId xmlns:a16="http://schemas.microsoft.com/office/drawing/2014/main" val="20000"/>
                    </a:ext>
                  </a:extLst>
                </a:gridCol>
                <a:gridCol w="8191569">
                  <a:extLst>
                    <a:ext uri="{9D8B030D-6E8A-4147-A177-3AD203B41FA5}">
                      <a16:colId xmlns:a16="http://schemas.microsoft.com/office/drawing/2014/main" val="20001"/>
                    </a:ext>
                  </a:extLst>
                </a:gridCol>
              </a:tblGrid>
              <a:tr h="3295284">
                <a:tc>
                  <a:txBody>
                    <a:bodyPr/>
                    <a:lstStyle/>
                    <a:p>
                      <a:pPr algn="l">
                        <a:lnSpc>
                          <a:spcPts val="3500"/>
                        </a:lnSpc>
                        <a:defRPr/>
                      </a:pPr>
                      <a:r>
                        <a:rPr lang="en-US" sz="2500" b="1">
                          <a:solidFill>
                            <a:srgbClr val="FFFFFF"/>
                          </a:solidFill>
                          <a:latin typeface="Open Sauce Bold"/>
                          <a:ea typeface="Open Sauce Bold"/>
                          <a:cs typeface="Open Sauce Bold"/>
                          <a:sym typeface="Open Sauce Bold"/>
                        </a:rPr>
                        <a:t>         Khả năng đã đạt được:</a:t>
                      </a:r>
                      <a:endParaRPr lang="en-US" sz="1100"/>
                    </a:p>
                    <a:p>
                      <a:pPr marL="539754" lvl="1" indent="-269877" algn="l">
                        <a:lnSpc>
                          <a:spcPts val="3500"/>
                        </a:lnSpc>
                        <a:buFont typeface="Arial"/>
                        <a:buChar char="•"/>
                      </a:pPr>
                      <a:r>
                        <a:rPr lang="en-US" sz="2500">
                          <a:solidFill>
                            <a:srgbClr val="FFFFFF"/>
                          </a:solidFill>
                          <a:latin typeface="Open Sauce"/>
                          <a:ea typeface="Open Sauce"/>
                          <a:cs typeface="Open Sauce"/>
                          <a:sym typeface="Open Sauce"/>
                        </a:rPr>
                        <a:t>GUI CustomTkinter đầy đủ chức năng với canvas bộ nhớ động.</a:t>
                      </a:r>
                    </a:p>
                    <a:p>
                      <a:pPr marL="539754" lvl="1" indent="-269877" algn="l">
                        <a:lnSpc>
                          <a:spcPts val="3500"/>
                        </a:lnSpc>
                        <a:buFont typeface="Arial"/>
                        <a:buChar char="•"/>
                      </a:pPr>
                      <a:r>
                        <a:rPr lang="en-US" sz="2500">
                          <a:solidFill>
                            <a:srgbClr val="FFFFFF"/>
                          </a:solidFill>
                          <a:latin typeface="Open Sauce"/>
                          <a:ea typeface="Open Sauce"/>
                          <a:cs typeface="Open Sauce"/>
                          <a:sym typeface="Open Sauce"/>
                        </a:rPr>
                        <a:t>Tích hợp 3 thuật toán cấp phát cốt lõi.</a:t>
                      </a:r>
                    </a:p>
                    <a:p>
                      <a:pPr marL="539754" lvl="1" indent="-269877" algn="l">
                        <a:lnSpc>
                          <a:spcPts val="3500"/>
                        </a:lnSpc>
                        <a:buFont typeface="Arial"/>
                        <a:buChar char="•"/>
                      </a:pPr>
                      <a:r>
                        <a:rPr lang="en-US" sz="2500">
                          <a:solidFill>
                            <a:srgbClr val="FFFFFF"/>
                          </a:solidFill>
                          <a:latin typeface="Open Sauce"/>
                          <a:ea typeface="Open Sauce"/>
                          <a:cs typeface="Open Sauce"/>
                          <a:sym typeface="Open Sauce"/>
                        </a:rPr>
                        <a:t>Xử lý dữ liệu CSV hai chiều và kiểm tra áp lực khối lượng lớn.</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3499"/>
                        </a:lnSpc>
                        <a:defRPr/>
                      </a:pPr>
                      <a:r>
                        <a:rPr lang="en-US" sz="2499" b="1">
                          <a:solidFill>
                            <a:srgbClr val="FFFFFF"/>
                          </a:solidFill>
                          <a:latin typeface="Open Sauce Bold"/>
                          <a:ea typeface="Open Sauce Bold"/>
                          <a:cs typeface="Open Sauce Bold"/>
                          <a:sym typeface="Open Sauce Bold"/>
                        </a:rPr>
                        <a:t>          Thách thức Kỹ thuật:</a:t>
                      </a:r>
                      <a:endParaRPr lang="en-US" sz="1100"/>
                    </a:p>
                    <a:p>
                      <a:pPr marL="539749" lvl="1" indent="-269875" algn="l">
                        <a:lnSpc>
                          <a:spcPts val="3499"/>
                        </a:lnSpc>
                        <a:buFont typeface="Arial"/>
                        <a:buChar char="•"/>
                      </a:pPr>
                      <a:r>
                        <a:rPr lang="en-US" sz="2499">
                          <a:solidFill>
                            <a:srgbClr val="FFFFFF"/>
                          </a:solidFill>
                          <a:latin typeface="Open Sauce"/>
                          <a:ea typeface="Open Sauce"/>
                          <a:cs typeface="Open Sauce"/>
                          <a:sym typeface="Open Sauce"/>
                        </a:rPr>
                        <a:t>Quản lý lỗi luồng UI do các vòng lặp hoạt ảnh tần suất cao.</a:t>
                      </a:r>
                    </a:p>
                    <a:p>
                      <a:pPr marL="539749" lvl="1" indent="-269875" algn="l">
                        <a:lnSpc>
                          <a:spcPts val="3499"/>
                        </a:lnSpc>
                        <a:buFont typeface="Arial"/>
                        <a:buChar char="•"/>
                      </a:pPr>
                      <a:r>
                        <a:rPr lang="en-US" sz="2499">
                          <a:solidFill>
                            <a:srgbClr val="FFFFFF"/>
                          </a:solidFill>
                          <a:latin typeface="Open Sauce"/>
                          <a:ea typeface="Open Sauce"/>
                          <a:cs typeface="Open Sauce"/>
                          <a:sym typeface="Open Sauce"/>
                        </a:rPr>
                        <a:t>Xử lý lỗi mã hóa ký tự BOM (Byte Order Mark) ẩn khi nạp file CSV trên Windows.</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3527634">
                <a:tc>
                  <a:txBody>
                    <a:bodyPr/>
                    <a:lstStyle/>
                    <a:p>
                      <a:pPr algn="l">
                        <a:lnSpc>
                          <a:spcPts val="3499"/>
                        </a:lnSpc>
                        <a:defRPr/>
                      </a:pPr>
                      <a:r>
                        <a:rPr lang="en-US" sz="2499" b="1">
                          <a:solidFill>
                            <a:srgbClr val="FFFFFF"/>
                          </a:solidFill>
                          <a:latin typeface="Open Sauce Bold"/>
                          <a:ea typeface="Open Sauce Bold"/>
                          <a:cs typeface="Open Sauce Bold"/>
                          <a:sym typeface="Open Sauce Bold"/>
                        </a:rPr>
                        <a:t>          Bài học cốt lõi:</a:t>
                      </a:r>
                      <a:endParaRPr lang="en-US" sz="1100"/>
                    </a:p>
                    <a:p>
                      <a:pPr marL="539749" lvl="1" indent="-269875" algn="l">
                        <a:lnSpc>
                          <a:spcPts val="3499"/>
                        </a:lnSpc>
                        <a:buFont typeface="Arial"/>
                        <a:buChar char="•"/>
                      </a:pPr>
                      <a:r>
                        <a:rPr lang="en-US" sz="2499">
                          <a:solidFill>
                            <a:srgbClr val="FFFFFF"/>
                          </a:solidFill>
                          <a:latin typeface="Open Sauce"/>
                          <a:ea typeface="Open Sauce"/>
                          <a:cs typeface="Open Sauce"/>
                          <a:sym typeface="Open Sauce"/>
                        </a:rPr>
                        <a:t>Tầm quan trọng cốt yếu của "Phân tách các mối quan tâm" (tách biệt logic UI và toán học).</a:t>
                      </a:r>
                    </a:p>
                    <a:p>
                      <a:pPr marL="539749" lvl="1" indent="-269875" algn="l">
                        <a:lnSpc>
                          <a:spcPts val="3499"/>
                        </a:lnSpc>
                        <a:buFont typeface="Arial"/>
                        <a:buChar char="•"/>
                      </a:pPr>
                      <a:r>
                        <a:rPr lang="en-US" sz="2499">
                          <a:solidFill>
                            <a:srgbClr val="FFFFFF"/>
                          </a:solidFill>
                          <a:latin typeface="Open Sauce"/>
                          <a:ea typeface="Open Sauce"/>
                          <a:cs typeface="Open Sauce"/>
                          <a:sym typeface="Open Sauce"/>
                        </a:rPr>
                        <a:t>Giải quyết xung đột khi gộp mã (merge conflicts) qua quản lý phiên bản GitHub.</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3499"/>
                        </a:lnSpc>
                        <a:defRPr/>
                      </a:pPr>
                      <a:r>
                        <a:rPr lang="en-US" sz="2499" b="1">
                          <a:solidFill>
                            <a:srgbClr val="FFFFFF"/>
                          </a:solidFill>
                          <a:latin typeface="Open Sauce Bold"/>
                          <a:ea typeface="Open Sauce Bold"/>
                          <a:cs typeface="Open Sauce Bold"/>
                          <a:sym typeface="Open Sauce Bold"/>
                        </a:rPr>
                        <a:t>          Phạm vi tương lai:</a:t>
                      </a:r>
                      <a:endParaRPr lang="en-US" sz="1100"/>
                    </a:p>
                    <a:p>
                      <a:pPr marL="539749" lvl="1" indent="-269875" algn="l">
                        <a:lnSpc>
                          <a:spcPts val="3499"/>
                        </a:lnSpc>
                        <a:buFont typeface="Arial"/>
                        <a:buChar char="•"/>
                      </a:pPr>
                      <a:r>
                        <a:rPr lang="en-US" sz="2499">
                          <a:solidFill>
                            <a:srgbClr val="FFFFFF"/>
                          </a:solidFill>
                          <a:latin typeface="Open Sauce"/>
                          <a:ea typeface="Open Sauce"/>
                          <a:cs typeface="Open Sauce"/>
                          <a:sym typeface="Open Sauce"/>
                        </a:rPr>
                        <a:t>Triển khai giải phóng tiến trình (thu hồi bộ nhớ).</a:t>
                      </a:r>
                    </a:p>
                    <a:p>
                      <a:pPr marL="539749" lvl="1" indent="-269875" algn="l">
                        <a:lnSpc>
                          <a:spcPts val="3499"/>
                        </a:lnSpc>
                        <a:buFont typeface="Arial"/>
                        <a:buChar char="•"/>
                      </a:pPr>
                      <a:r>
                        <a:rPr lang="en-US" sz="2499">
                          <a:solidFill>
                            <a:srgbClr val="FFFFFF"/>
                          </a:solidFill>
                          <a:latin typeface="Open Sauce"/>
                          <a:ea typeface="Open Sauce"/>
                          <a:cs typeface="Open Sauce"/>
                          <a:sym typeface="Open Sauce"/>
                        </a:rPr>
                        <a:t>Mở rộng sang thuật toán Next-Fit và Hệ thống Buddy.</a:t>
                      </a:r>
                    </a:p>
                    <a:p>
                      <a:pPr marL="539749" lvl="1" indent="-269875" algn="l">
                        <a:lnSpc>
                          <a:spcPts val="3499"/>
                        </a:lnSpc>
                        <a:buFont typeface="Arial"/>
                        <a:buChar char="•"/>
                      </a:pPr>
                      <a:r>
                        <a:rPr lang="en-US" sz="2499">
                          <a:solidFill>
                            <a:srgbClr val="FFFFFF"/>
                          </a:solidFill>
                          <a:latin typeface="Open Sauce"/>
                          <a:ea typeface="Open Sauce"/>
                          <a:cs typeface="Open Sauce"/>
                          <a:sym typeface="Open Sauce"/>
                        </a:rPr>
                        <a:t>Mô phỏng các tính năng OS hiện đại như Phân trang (Paging) và Bộ nhớ ảo (Virtual Memory).</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9" name="Freeform 9"/>
          <p:cNvSpPr/>
          <p:nvPr/>
        </p:nvSpPr>
        <p:spPr>
          <a:xfrm>
            <a:off x="2018745" y="2746912"/>
            <a:ext cx="484344" cy="484344"/>
          </a:xfrm>
          <a:custGeom>
            <a:avLst/>
            <a:gdLst/>
            <a:ahLst/>
            <a:cxnLst/>
            <a:rect l="l" t="t" r="r" b="b"/>
            <a:pathLst>
              <a:path w="484344" h="484344">
                <a:moveTo>
                  <a:pt x="0" y="0"/>
                </a:moveTo>
                <a:lnTo>
                  <a:pt x="484344" y="0"/>
                </a:lnTo>
                <a:lnTo>
                  <a:pt x="484344" y="484344"/>
                </a:lnTo>
                <a:lnTo>
                  <a:pt x="0" y="4843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9283939" y="2989084"/>
            <a:ext cx="546849" cy="452394"/>
          </a:xfrm>
          <a:custGeom>
            <a:avLst/>
            <a:gdLst/>
            <a:ahLst/>
            <a:cxnLst/>
            <a:rect l="l" t="t" r="r" b="b"/>
            <a:pathLst>
              <a:path w="546849" h="452394">
                <a:moveTo>
                  <a:pt x="0" y="0"/>
                </a:moveTo>
                <a:lnTo>
                  <a:pt x="546850" y="0"/>
                </a:lnTo>
                <a:lnTo>
                  <a:pt x="546850" y="452394"/>
                </a:lnTo>
                <a:lnTo>
                  <a:pt x="0" y="4523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a:off x="2018745" y="5930236"/>
            <a:ext cx="484344" cy="507408"/>
          </a:xfrm>
          <a:custGeom>
            <a:avLst/>
            <a:gdLst/>
            <a:ahLst/>
            <a:cxnLst/>
            <a:rect l="l" t="t" r="r" b="b"/>
            <a:pathLst>
              <a:path w="484344" h="507408">
                <a:moveTo>
                  <a:pt x="0" y="0"/>
                </a:moveTo>
                <a:lnTo>
                  <a:pt x="484344" y="0"/>
                </a:lnTo>
                <a:lnTo>
                  <a:pt x="484344" y="507408"/>
                </a:lnTo>
                <a:lnTo>
                  <a:pt x="0" y="507408"/>
                </a:lnTo>
                <a:lnTo>
                  <a:pt x="0" y="0"/>
                </a:lnTo>
                <a:close/>
              </a:path>
            </a:pathLst>
          </a:custGeom>
          <a:blipFill>
            <a:blip r:embed="rId10"/>
            <a:stretch>
              <a:fillRect/>
            </a:stretch>
          </a:blipFill>
        </p:spPr>
      </p:sp>
      <p:sp>
        <p:nvSpPr>
          <p:cNvPr id="12" name="Freeform 12"/>
          <p:cNvSpPr/>
          <p:nvPr/>
        </p:nvSpPr>
        <p:spPr>
          <a:xfrm>
            <a:off x="9283939" y="5882723"/>
            <a:ext cx="546849" cy="554921"/>
          </a:xfrm>
          <a:custGeom>
            <a:avLst/>
            <a:gdLst/>
            <a:ahLst/>
            <a:cxnLst/>
            <a:rect l="l" t="t" r="r" b="b"/>
            <a:pathLst>
              <a:path w="546849" h="554921">
                <a:moveTo>
                  <a:pt x="0" y="0"/>
                </a:moveTo>
                <a:lnTo>
                  <a:pt x="546850" y="0"/>
                </a:lnTo>
                <a:lnTo>
                  <a:pt x="546850" y="554921"/>
                </a:lnTo>
                <a:lnTo>
                  <a:pt x="0" y="554921"/>
                </a:lnTo>
                <a:lnTo>
                  <a:pt x="0" y="0"/>
                </a:lnTo>
                <a:close/>
              </a:path>
            </a:pathLst>
          </a:custGeom>
          <a:blipFill>
            <a:blip r:embed="rId11"/>
            <a:stretch>
              <a:fillRect/>
            </a:stretch>
          </a:blipFill>
        </p:spPr>
      </p:sp>
      <p:sp>
        <p:nvSpPr>
          <p:cNvPr id="13" name="TextBox 13"/>
          <p:cNvSpPr txBox="1"/>
          <p:nvPr/>
        </p:nvSpPr>
        <p:spPr>
          <a:xfrm>
            <a:off x="9604462" y="412429"/>
            <a:ext cx="1662550" cy="280700"/>
          </a:xfrm>
          <a:prstGeom prst="rect">
            <a:avLst/>
          </a:prstGeom>
        </p:spPr>
        <p:txBody>
          <a:bodyPr lIns="0" tIns="0" rIns="0" bIns="0" rtlCol="0" anchor="t">
            <a:spAutoFit/>
          </a:bodyPr>
          <a:lstStyle/>
          <a:p>
            <a:pPr marL="0" lvl="0" indent="0" algn="ctr">
              <a:lnSpc>
                <a:spcPts val="2378"/>
              </a:lnSpc>
              <a:spcBef>
                <a:spcPct val="0"/>
              </a:spcBef>
            </a:pPr>
            <a:r>
              <a:rPr lang="en-US" sz="1698" spc="3">
                <a:solidFill>
                  <a:srgbClr val="FFFFFF"/>
                </a:solidFill>
                <a:latin typeface="Open Sauce"/>
                <a:ea typeface="Open Sauce"/>
                <a:cs typeface="Open Sauce"/>
                <a:sym typeface="Open Sauce"/>
              </a:rPr>
              <a:t>Trang chủ</a:t>
            </a:r>
          </a:p>
        </p:txBody>
      </p:sp>
      <p:sp>
        <p:nvSpPr>
          <p:cNvPr id="14" name="TextBox 14"/>
          <p:cNvSpPr txBox="1"/>
          <p:nvPr/>
        </p:nvSpPr>
        <p:spPr>
          <a:xfrm>
            <a:off x="11447986" y="432733"/>
            <a:ext cx="1662550" cy="280700"/>
          </a:xfrm>
          <a:prstGeom prst="rect">
            <a:avLst/>
          </a:prstGeom>
        </p:spPr>
        <p:txBody>
          <a:bodyPr lIns="0" tIns="0" rIns="0" bIns="0" rtlCol="0" anchor="t">
            <a:spAutoFit/>
          </a:bodyPr>
          <a:lstStyle/>
          <a:p>
            <a:pPr marL="0" lvl="0" indent="0" algn="ctr">
              <a:lnSpc>
                <a:spcPts val="2378"/>
              </a:lnSpc>
              <a:spcBef>
                <a:spcPct val="0"/>
              </a:spcBef>
            </a:pPr>
            <a:r>
              <a:rPr lang="en-US" sz="1698" spc="3">
                <a:solidFill>
                  <a:srgbClr val="FFFFFF"/>
                </a:solidFill>
                <a:latin typeface="Open Sauce"/>
                <a:ea typeface="Open Sauce"/>
                <a:cs typeface="Open Sauce"/>
                <a:sym typeface="Open Sauce"/>
              </a:rPr>
              <a:t>Giới thiệu</a:t>
            </a:r>
          </a:p>
        </p:txBody>
      </p:sp>
      <p:sp>
        <p:nvSpPr>
          <p:cNvPr id="15" name="TextBox 15"/>
          <p:cNvSpPr txBox="1"/>
          <p:nvPr/>
        </p:nvSpPr>
        <p:spPr>
          <a:xfrm>
            <a:off x="13291511" y="412429"/>
            <a:ext cx="1662550" cy="280700"/>
          </a:xfrm>
          <a:prstGeom prst="rect">
            <a:avLst/>
          </a:prstGeom>
        </p:spPr>
        <p:txBody>
          <a:bodyPr lIns="0" tIns="0" rIns="0" bIns="0" rtlCol="0" anchor="t">
            <a:spAutoFit/>
          </a:bodyPr>
          <a:lstStyle/>
          <a:p>
            <a:pPr marL="0" lvl="0" indent="0" algn="ctr">
              <a:lnSpc>
                <a:spcPts val="2378"/>
              </a:lnSpc>
              <a:spcBef>
                <a:spcPct val="0"/>
              </a:spcBef>
            </a:pPr>
            <a:r>
              <a:rPr lang="en-US" sz="1698" b="1" spc="3">
                <a:solidFill>
                  <a:srgbClr val="FFFFFF"/>
                </a:solidFill>
                <a:latin typeface="Open Sauce Heavy"/>
                <a:ea typeface="Open Sauce Heavy"/>
                <a:cs typeface="Open Sauce Heavy"/>
                <a:sym typeface="Open Sauce Heavy"/>
              </a:rPr>
              <a:t>Nội dung</a:t>
            </a:r>
          </a:p>
        </p:txBody>
      </p:sp>
      <p:sp>
        <p:nvSpPr>
          <p:cNvPr id="16" name="TextBox 16"/>
          <p:cNvSpPr txBox="1"/>
          <p:nvPr/>
        </p:nvSpPr>
        <p:spPr>
          <a:xfrm>
            <a:off x="15135036" y="412429"/>
            <a:ext cx="1662550" cy="280700"/>
          </a:xfrm>
          <a:prstGeom prst="rect">
            <a:avLst/>
          </a:prstGeom>
        </p:spPr>
        <p:txBody>
          <a:bodyPr lIns="0" tIns="0" rIns="0" bIns="0" rtlCol="0" anchor="t">
            <a:spAutoFit/>
          </a:bodyPr>
          <a:lstStyle/>
          <a:p>
            <a:pPr marL="0" lvl="0" indent="0" algn="ctr">
              <a:lnSpc>
                <a:spcPts val="2378"/>
              </a:lnSpc>
              <a:spcBef>
                <a:spcPct val="0"/>
              </a:spcBef>
            </a:pPr>
            <a:r>
              <a:rPr lang="en-US" sz="1698" spc="3">
                <a:solidFill>
                  <a:srgbClr val="FFFFFF"/>
                </a:solidFill>
                <a:latin typeface="Open Sauce"/>
                <a:ea typeface="Open Sauce"/>
                <a:cs typeface="Open Sauce"/>
                <a:sym typeface="Open Sauce"/>
              </a:rPr>
              <a:t>Khác</a:t>
            </a:r>
          </a:p>
        </p:txBody>
      </p:sp>
      <p:sp>
        <p:nvSpPr>
          <p:cNvPr id="17" name="TextBox 17"/>
          <p:cNvSpPr txBox="1"/>
          <p:nvPr/>
        </p:nvSpPr>
        <p:spPr>
          <a:xfrm>
            <a:off x="695603" y="1518671"/>
            <a:ext cx="11025415" cy="503047"/>
          </a:xfrm>
          <a:prstGeom prst="rect">
            <a:avLst/>
          </a:prstGeom>
        </p:spPr>
        <p:txBody>
          <a:bodyPr lIns="0" tIns="0" rIns="0" bIns="0" rtlCol="0" anchor="t">
            <a:spAutoFit/>
          </a:bodyPr>
          <a:lstStyle/>
          <a:p>
            <a:pPr marL="0" lvl="0" indent="0" algn="l">
              <a:lnSpc>
                <a:spcPts val="3943"/>
              </a:lnSpc>
            </a:pPr>
            <a:r>
              <a:rPr lang="en-US" sz="3399" b="1" spc="-159">
                <a:solidFill>
                  <a:srgbClr val="FFFFFF"/>
                </a:solidFill>
                <a:latin typeface="Montserrat Bold"/>
                <a:ea typeface="Montserrat Bold"/>
                <a:cs typeface="Montserrat Bold"/>
                <a:sym typeface="Montserrat Bold"/>
              </a:rPr>
              <a:t>Nhìn lại Dự án &amp; Lộ trình Phát triển:</a:t>
            </a:r>
          </a:p>
        </p:txBody>
      </p:sp>
      <p:sp>
        <p:nvSpPr>
          <p:cNvPr id="18" name="TextBox 18"/>
          <p:cNvSpPr txBox="1"/>
          <p:nvPr/>
        </p:nvSpPr>
        <p:spPr>
          <a:xfrm>
            <a:off x="1735466" y="397467"/>
            <a:ext cx="4609634" cy="489742"/>
          </a:xfrm>
          <a:prstGeom prst="rect">
            <a:avLst/>
          </a:prstGeom>
        </p:spPr>
        <p:txBody>
          <a:bodyPr lIns="0" tIns="0" rIns="0" bIns="0" rtlCol="0" anchor="t">
            <a:spAutoFit/>
          </a:bodyPr>
          <a:lstStyle/>
          <a:p>
            <a:pPr marL="0" lvl="0" indent="0" algn="l">
              <a:lnSpc>
                <a:spcPts val="3981"/>
              </a:lnSpc>
              <a:spcBef>
                <a:spcPct val="0"/>
              </a:spcBef>
            </a:pPr>
            <a:r>
              <a:rPr lang="en-US" sz="2843" spc="5">
                <a:solidFill>
                  <a:srgbClr val="FFFFFF"/>
                </a:solidFill>
                <a:latin typeface="Open Sauce"/>
                <a:ea typeface="Open Sauce"/>
                <a:cs typeface="Open Sauce"/>
                <a:sym typeface="Open Sauce"/>
              </a:rPr>
              <a:t>Group 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6982967" y="400502"/>
            <a:ext cx="1305033" cy="333097"/>
            <a:chOff x="0" y="0"/>
            <a:chExt cx="343712" cy="87729"/>
          </a:xfrm>
        </p:grpSpPr>
        <p:sp>
          <p:nvSpPr>
            <p:cNvPr id="3" name="Freeform 3"/>
            <p:cNvSpPr/>
            <p:nvPr/>
          </p:nvSpPr>
          <p:spPr>
            <a:xfrm>
              <a:off x="0" y="0"/>
              <a:ext cx="343712" cy="87729"/>
            </a:xfrm>
            <a:custGeom>
              <a:avLst/>
              <a:gdLst/>
              <a:ahLst/>
              <a:cxnLst/>
              <a:rect l="l" t="t" r="r" b="b"/>
              <a:pathLst>
                <a:path w="343712" h="87729">
                  <a:moveTo>
                    <a:pt x="0" y="0"/>
                  </a:moveTo>
                  <a:lnTo>
                    <a:pt x="343712" y="0"/>
                  </a:lnTo>
                  <a:lnTo>
                    <a:pt x="343712" y="87729"/>
                  </a:lnTo>
                  <a:lnTo>
                    <a:pt x="0" y="87729"/>
                  </a:lnTo>
                  <a:close/>
                </a:path>
              </a:pathLst>
            </a:custGeom>
            <a:gradFill rotWithShape="1">
              <a:gsLst>
                <a:gs pos="0">
                  <a:srgbClr val="4E69B1">
                    <a:alpha val="100000"/>
                  </a:srgbClr>
                </a:gs>
                <a:gs pos="100000">
                  <a:srgbClr val="15122A">
                    <a:alpha val="100000"/>
                  </a:srgbClr>
                </a:gs>
              </a:gsLst>
              <a:path path="circle">
                <a:fillToRect r="100000" b="100000"/>
              </a:path>
              <a:tileRect l="-100000" t="-100000"/>
            </a:gradFill>
          </p:spPr>
        </p:sp>
        <p:sp>
          <p:nvSpPr>
            <p:cNvPr id="4" name="TextBox 4"/>
            <p:cNvSpPr txBox="1"/>
            <p:nvPr/>
          </p:nvSpPr>
          <p:spPr>
            <a:xfrm>
              <a:off x="0" y="-38100"/>
              <a:ext cx="343712" cy="125829"/>
            </a:xfrm>
            <a:prstGeom prst="rect">
              <a:avLst/>
            </a:prstGeom>
          </p:spPr>
          <p:txBody>
            <a:bodyPr lIns="50800" tIns="50800" rIns="50800" bIns="50800" rtlCol="0" anchor="ctr"/>
            <a:lstStyle/>
            <a:p>
              <a:pPr marL="0" lvl="0" indent="0" algn="ctr">
                <a:lnSpc>
                  <a:spcPts val="2871"/>
                </a:lnSpc>
              </a:pPr>
              <a:endParaRPr/>
            </a:p>
          </p:txBody>
        </p:sp>
      </p:grpSp>
      <p:sp>
        <p:nvSpPr>
          <p:cNvPr id="5" name="Freeform 5"/>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2"/>
            <a:stretch>
              <a:fillRect/>
            </a:stretch>
          </a:blipFill>
        </p:spPr>
      </p:sp>
      <p:sp>
        <p:nvSpPr>
          <p:cNvPr id="6" name="TextBox 6"/>
          <p:cNvSpPr txBox="1"/>
          <p:nvPr/>
        </p:nvSpPr>
        <p:spPr>
          <a:xfrm>
            <a:off x="9604462" y="412429"/>
            <a:ext cx="1662550" cy="280700"/>
          </a:xfrm>
          <a:prstGeom prst="rect">
            <a:avLst/>
          </a:prstGeom>
        </p:spPr>
        <p:txBody>
          <a:bodyPr lIns="0" tIns="0" rIns="0" bIns="0" rtlCol="0" anchor="t">
            <a:spAutoFit/>
          </a:bodyPr>
          <a:lstStyle/>
          <a:p>
            <a:pPr marL="0" lvl="0" indent="0" algn="ctr">
              <a:lnSpc>
                <a:spcPts val="2378"/>
              </a:lnSpc>
              <a:spcBef>
                <a:spcPct val="0"/>
              </a:spcBef>
            </a:pPr>
            <a:r>
              <a:rPr lang="en-US" sz="1698" spc="3">
                <a:solidFill>
                  <a:srgbClr val="FFFFFF"/>
                </a:solidFill>
                <a:latin typeface="Open Sauce"/>
                <a:ea typeface="Open Sauce"/>
                <a:cs typeface="Open Sauce"/>
                <a:sym typeface="Open Sauce"/>
              </a:rPr>
              <a:t>Giới thiệu</a:t>
            </a:r>
          </a:p>
        </p:txBody>
      </p:sp>
      <p:sp>
        <p:nvSpPr>
          <p:cNvPr id="7" name="TextBox 7"/>
          <p:cNvSpPr txBox="1"/>
          <p:nvPr/>
        </p:nvSpPr>
        <p:spPr>
          <a:xfrm>
            <a:off x="11447986" y="432733"/>
            <a:ext cx="1662550" cy="280700"/>
          </a:xfrm>
          <a:prstGeom prst="rect">
            <a:avLst/>
          </a:prstGeom>
        </p:spPr>
        <p:txBody>
          <a:bodyPr lIns="0" tIns="0" rIns="0" bIns="0" rtlCol="0" anchor="t">
            <a:spAutoFit/>
          </a:bodyPr>
          <a:lstStyle/>
          <a:p>
            <a:pPr marL="0" lvl="0" indent="0" algn="ctr">
              <a:lnSpc>
                <a:spcPts val="2378"/>
              </a:lnSpc>
              <a:spcBef>
                <a:spcPct val="0"/>
              </a:spcBef>
            </a:pPr>
            <a:r>
              <a:rPr lang="en-US" sz="1698" spc="3">
                <a:solidFill>
                  <a:srgbClr val="FFFFFF"/>
                </a:solidFill>
                <a:latin typeface="Open Sauce"/>
                <a:ea typeface="Open Sauce"/>
                <a:cs typeface="Open Sauce"/>
                <a:sym typeface="Open Sauce"/>
              </a:rPr>
              <a:t>Code</a:t>
            </a:r>
          </a:p>
        </p:txBody>
      </p:sp>
      <p:sp>
        <p:nvSpPr>
          <p:cNvPr id="8" name="TextBox 8"/>
          <p:cNvSpPr txBox="1"/>
          <p:nvPr/>
        </p:nvSpPr>
        <p:spPr>
          <a:xfrm>
            <a:off x="13291511" y="412429"/>
            <a:ext cx="1662550" cy="280700"/>
          </a:xfrm>
          <a:prstGeom prst="rect">
            <a:avLst/>
          </a:prstGeom>
        </p:spPr>
        <p:txBody>
          <a:bodyPr lIns="0" tIns="0" rIns="0" bIns="0" rtlCol="0" anchor="t">
            <a:spAutoFit/>
          </a:bodyPr>
          <a:lstStyle/>
          <a:p>
            <a:pPr marL="0" lvl="0" indent="0" algn="ctr">
              <a:lnSpc>
                <a:spcPts val="2378"/>
              </a:lnSpc>
              <a:spcBef>
                <a:spcPct val="0"/>
              </a:spcBef>
            </a:pPr>
            <a:r>
              <a:rPr lang="en-US" sz="1698" spc="3">
                <a:solidFill>
                  <a:srgbClr val="FFFFFF"/>
                </a:solidFill>
                <a:latin typeface="Open Sauce"/>
                <a:ea typeface="Open Sauce"/>
                <a:cs typeface="Open Sauce"/>
                <a:sym typeface="Open Sauce"/>
              </a:rPr>
              <a:t>Demo</a:t>
            </a:r>
          </a:p>
        </p:txBody>
      </p:sp>
      <p:sp>
        <p:nvSpPr>
          <p:cNvPr id="9" name="TextBox 9"/>
          <p:cNvSpPr txBox="1"/>
          <p:nvPr/>
        </p:nvSpPr>
        <p:spPr>
          <a:xfrm>
            <a:off x="15135036" y="412429"/>
            <a:ext cx="1662550" cy="280700"/>
          </a:xfrm>
          <a:prstGeom prst="rect">
            <a:avLst/>
          </a:prstGeom>
        </p:spPr>
        <p:txBody>
          <a:bodyPr lIns="0" tIns="0" rIns="0" bIns="0" rtlCol="0" anchor="t">
            <a:spAutoFit/>
          </a:bodyPr>
          <a:lstStyle/>
          <a:p>
            <a:pPr marL="0" lvl="0" indent="0" algn="ctr">
              <a:lnSpc>
                <a:spcPts val="2378"/>
              </a:lnSpc>
              <a:spcBef>
                <a:spcPct val="0"/>
              </a:spcBef>
            </a:pPr>
            <a:r>
              <a:rPr lang="en-US" sz="1698" b="1" spc="3">
                <a:solidFill>
                  <a:srgbClr val="FFFFFF"/>
                </a:solidFill>
                <a:latin typeface="Open Sauce Heavy"/>
                <a:ea typeface="Open Sauce Heavy"/>
                <a:cs typeface="Open Sauce Heavy"/>
                <a:sym typeface="Open Sauce Heavy"/>
              </a:rPr>
              <a:t>Hỏi đáp</a:t>
            </a:r>
          </a:p>
        </p:txBody>
      </p:sp>
      <p:sp>
        <p:nvSpPr>
          <p:cNvPr id="10" name="Freeform 10"/>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3"/>
            <a:stretch>
              <a:fillRect/>
            </a:stretch>
          </a:blipFill>
        </p:spPr>
      </p:sp>
      <p:sp>
        <p:nvSpPr>
          <p:cNvPr id="11" name="TextBox 11"/>
          <p:cNvSpPr txBox="1"/>
          <p:nvPr/>
        </p:nvSpPr>
        <p:spPr>
          <a:xfrm>
            <a:off x="1583981" y="730764"/>
            <a:ext cx="15120037" cy="4493047"/>
          </a:xfrm>
          <a:prstGeom prst="rect">
            <a:avLst/>
          </a:prstGeom>
        </p:spPr>
        <p:txBody>
          <a:bodyPr lIns="0" tIns="0" rIns="0" bIns="0" rtlCol="0" anchor="t">
            <a:spAutoFit/>
          </a:bodyPr>
          <a:lstStyle/>
          <a:p>
            <a:pPr marL="0" lvl="0" indent="0" algn="ctr">
              <a:lnSpc>
                <a:spcPts val="18001"/>
              </a:lnSpc>
              <a:spcBef>
                <a:spcPct val="0"/>
              </a:spcBef>
            </a:pPr>
            <a:r>
              <a:rPr lang="en-US" sz="12858" b="1" spc="295">
                <a:solidFill>
                  <a:srgbClr val="FFFFFF"/>
                </a:solidFill>
                <a:latin typeface="Montserrat Ultra-Bold"/>
                <a:ea typeface="Montserrat Ultra-Bold"/>
                <a:cs typeface="Montserrat Ultra-Bold"/>
                <a:sym typeface="Montserrat Ultra-Bold"/>
              </a:rPr>
              <a:t>THANKS FOR WATCHING</a:t>
            </a:r>
          </a:p>
        </p:txBody>
      </p:sp>
      <p:sp>
        <p:nvSpPr>
          <p:cNvPr id="12" name="Freeform 12"/>
          <p:cNvSpPr/>
          <p:nvPr/>
        </p:nvSpPr>
        <p:spPr>
          <a:xfrm>
            <a:off x="695603" y="420807"/>
            <a:ext cx="557607" cy="557607"/>
          </a:xfrm>
          <a:custGeom>
            <a:avLst/>
            <a:gdLst/>
            <a:ahLst/>
            <a:cxnLst/>
            <a:rect l="l" t="t" r="r" b="b"/>
            <a:pathLst>
              <a:path w="557607" h="557607">
                <a:moveTo>
                  <a:pt x="0" y="0"/>
                </a:moveTo>
                <a:lnTo>
                  <a:pt x="557607" y="0"/>
                </a:lnTo>
                <a:lnTo>
                  <a:pt x="557607" y="557607"/>
                </a:lnTo>
                <a:lnTo>
                  <a:pt x="0" y="557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1735466" y="397467"/>
            <a:ext cx="4609634" cy="489742"/>
          </a:xfrm>
          <a:prstGeom prst="rect">
            <a:avLst/>
          </a:prstGeom>
        </p:spPr>
        <p:txBody>
          <a:bodyPr lIns="0" tIns="0" rIns="0" bIns="0" rtlCol="0" anchor="t">
            <a:spAutoFit/>
          </a:bodyPr>
          <a:lstStyle/>
          <a:p>
            <a:pPr marL="0" lvl="0" indent="0" algn="l">
              <a:lnSpc>
                <a:spcPts val="3981"/>
              </a:lnSpc>
              <a:spcBef>
                <a:spcPct val="0"/>
              </a:spcBef>
            </a:pPr>
            <a:r>
              <a:rPr lang="en-US" sz="2843" spc="5">
                <a:solidFill>
                  <a:srgbClr val="FFFFFF"/>
                </a:solidFill>
                <a:latin typeface="Open Sauce"/>
                <a:ea typeface="Open Sauce"/>
                <a:cs typeface="Open Sauce"/>
                <a:sym typeface="Open Sauce"/>
              </a:rPr>
              <a:t>Group 9</a:t>
            </a:r>
          </a:p>
        </p:txBody>
      </p:sp>
      <p:sp>
        <p:nvSpPr>
          <p:cNvPr id="14" name="TextBox 14"/>
          <p:cNvSpPr txBox="1"/>
          <p:nvPr/>
        </p:nvSpPr>
        <p:spPr>
          <a:xfrm>
            <a:off x="2081086" y="5076825"/>
            <a:ext cx="15046751" cy="4481226"/>
          </a:xfrm>
          <a:prstGeom prst="rect">
            <a:avLst/>
          </a:prstGeom>
        </p:spPr>
        <p:txBody>
          <a:bodyPr lIns="0" tIns="0" rIns="0" bIns="0" rtlCol="0" anchor="t">
            <a:spAutoFit/>
          </a:bodyPr>
          <a:lstStyle/>
          <a:p>
            <a:pPr algn="ctr">
              <a:lnSpc>
                <a:spcPts val="4478"/>
              </a:lnSpc>
              <a:spcBef>
                <a:spcPct val="0"/>
              </a:spcBef>
            </a:pPr>
            <a:r>
              <a:rPr lang="en-US" sz="3198" b="1" spc="6">
                <a:solidFill>
                  <a:srgbClr val="FFFFFF"/>
                </a:solidFill>
                <a:latin typeface="Open Sauce Bold"/>
                <a:ea typeface="Open Sauce Bold"/>
                <a:cs typeface="Open Sauce Bold"/>
                <a:sym typeface="Open Sauce Bold"/>
              </a:rPr>
              <a:t>Thành viên nhóm</a:t>
            </a:r>
          </a:p>
          <a:p>
            <a:pPr algn="ctr">
              <a:lnSpc>
                <a:spcPts val="4478"/>
              </a:lnSpc>
              <a:spcBef>
                <a:spcPct val="0"/>
              </a:spcBef>
            </a:pPr>
            <a:r>
              <a:rPr lang="en-US" sz="3198" spc="6">
                <a:solidFill>
                  <a:srgbClr val="FFFFFF"/>
                </a:solidFill>
                <a:latin typeface="Open Sauce"/>
                <a:ea typeface="Open Sauce"/>
                <a:cs typeface="Open Sauce"/>
                <a:sym typeface="Open Sauce"/>
              </a:rPr>
              <a:t>Trần Minh Quân - Build data structures (main_logic.py); Implement the First-Fit algorithm; Manage the GitHub repository; Support documentation writing</a:t>
            </a:r>
          </a:p>
          <a:p>
            <a:pPr algn="ctr">
              <a:lnSpc>
                <a:spcPts val="4478"/>
              </a:lnSpc>
              <a:spcBef>
                <a:spcPct val="0"/>
              </a:spcBef>
            </a:pPr>
            <a:r>
              <a:rPr lang="en-US" sz="3198" spc="6">
                <a:solidFill>
                  <a:srgbClr val="FFFFFF"/>
                </a:solidFill>
                <a:latin typeface="Open Sauce"/>
                <a:ea typeface="Open Sauce"/>
                <a:cs typeface="Open Sauce"/>
                <a:sym typeface="Open Sauce"/>
              </a:rPr>
              <a:t>Nguyễn Thanh Bình - Memory Visualizer &amp; Input UI</a:t>
            </a:r>
          </a:p>
          <a:p>
            <a:pPr algn="ctr">
              <a:lnSpc>
                <a:spcPts val="4478"/>
              </a:lnSpc>
              <a:spcBef>
                <a:spcPct val="0"/>
              </a:spcBef>
            </a:pPr>
            <a:r>
              <a:rPr lang="en-US" sz="3198" spc="6">
                <a:solidFill>
                  <a:srgbClr val="FFFFFF"/>
                </a:solidFill>
                <a:latin typeface="Open Sauce"/>
                <a:ea typeface="Open Sauce"/>
                <a:cs typeface="Open Sauce"/>
                <a:sym typeface="Open Sauce"/>
              </a:rPr>
              <a:t>Phạm Nguyễn Sanh Hảo - Best-Fit</a:t>
            </a:r>
          </a:p>
          <a:p>
            <a:pPr algn="ctr">
              <a:lnSpc>
                <a:spcPts val="4478"/>
              </a:lnSpc>
              <a:spcBef>
                <a:spcPct val="0"/>
              </a:spcBef>
            </a:pPr>
            <a:r>
              <a:rPr lang="en-US" sz="3198" spc="6">
                <a:solidFill>
                  <a:srgbClr val="FFFFFF"/>
                </a:solidFill>
                <a:latin typeface="Open Sauce"/>
                <a:ea typeface="Open Sauce"/>
                <a:cs typeface="Open Sauce"/>
                <a:sym typeface="Open Sauce"/>
              </a:rPr>
              <a:t>Nguyễn Đình Minh Nhựt - Testing &amp; Data Analysis, PPT</a:t>
            </a:r>
          </a:p>
          <a:p>
            <a:pPr algn="ctr">
              <a:lnSpc>
                <a:spcPts val="4478"/>
              </a:lnSpc>
              <a:spcBef>
                <a:spcPct val="0"/>
              </a:spcBef>
            </a:pPr>
            <a:r>
              <a:rPr lang="en-US" sz="3198" spc="6">
                <a:solidFill>
                  <a:srgbClr val="FFFFFF"/>
                </a:solidFill>
                <a:latin typeface="Open Sauce"/>
                <a:ea typeface="Open Sauce"/>
                <a:cs typeface="Open Sauce"/>
                <a:sym typeface="Open Sauce"/>
              </a:rPr>
              <a:t>Tạ Thái Dương - Documentation</a:t>
            </a:r>
          </a:p>
          <a:p>
            <a:pPr algn="ctr">
              <a:lnSpc>
                <a:spcPts val="4478"/>
              </a:lnSpc>
              <a:spcBef>
                <a:spcPct val="0"/>
              </a:spcBef>
            </a:pPr>
            <a:r>
              <a:rPr lang="en-US" sz="3198" spc="6">
                <a:solidFill>
                  <a:srgbClr val="FFFFFF"/>
                </a:solidFill>
                <a:latin typeface="Open Sauce"/>
                <a:ea typeface="Open Sauce"/>
                <a:cs typeface="Open Sauce"/>
                <a:sym typeface="Open Sauce"/>
              </a:rPr>
              <a:t>Nguyễn Viết Thành Gia - Worst-Fit Algorithm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1566</Words>
  <Application>Microsoft Office PowerPoint</Application>
  <PresentationFormat>Tùy chỉnh</PresentationFormat>
  <Paragraphs>155</Paragraphs>
  <Slides>19</Slides>
  <Notes>0</Notes>
  <HiddenSlides>0</HiddenSlides>
  <MMClips>0</MMClips>
  <ScaleCrop>false</ScaleCrop>
  <HeadingPairs>
    <vt:vector size="6" baseType="variant">
      <vt:variant>
        <vt:lpstr>Phông được Dùng</vt:lpstr>
      </vt:variant>
      <vt:variant>
        <vt:i4>7</vt:i4>
      </vt:variant>
      <vt:variant>
        <vt:lpstr>Chủ đề</vt:lpstr>
      </vt:variant>
      <vt:variant>
        <vt:i4>1</vt:i4>
      </vt:variant>
      <vt:variant>
        <vt:lpstr>Tiêu đề Bản chiếu</vt:lpstr>
      </vt:variant>
      <vt:variant>
        <vt:i4>19</vt:i4>
      </vt:variant>
    </vt:vector>
  </HeadingPairs>
  <TitlesOfParts>
    <vt:vector size="27" baseType="lpstr">
      <vt:lpstr>Arial</vt:lpstr>
      <vt:lpstr>Open Sauce</vt:lpstr>
      <vt:lpstr>Open Sauce Bold</vt:lpstr>
      <vt:lpstr>Calibri</vt:lpstr>
      <vt:lpstr>Open Sauce Heavy</vt:lpstr>
      <vt:lpstr>Montserrat Ultra-Bold</vt:lpstr>
      <vt:lpstr>Montserrat Bold</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Management Visualization App</dc:title>
  <cp:lastModifiedBy>nhựt nguyễn</cp:lastModifiedBy>
  <cp:revision>1</cp:revision>
  <dcterms:created xsi:type="dcterms:W3CDTF">2006-08-16T00:00:00Z</dcterms:created>
  <dcterms:modified xsi:type="dcterms:W3CDTF">2026-04-28T16:18:16Z</dcterms:modified>
  <dc:identifier>DAHHRmb0TvE</dc:identifier>
</cp:coreProperties>
</file>